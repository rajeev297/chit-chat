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0" r:id="rId2"/>
    <p:sldId id="261" r:id="rId3"/>
    <p:sldId id="256" r:id="rId4"/>
    <p:sldId id="257" r:id="rId5"/>
    <p:sldId id="258" r:id="rId6"/>
    <p:sldId id="259"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946"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9:21:22.453"/>
    </inkml:context>
    <inkml:brush xml:id="br0">
      <inkml:brushProperty name="width" value="0.035" units="cm"/>
      <inkml:brushProperty name="height" value="0.035" units="cm"/>
    </inkml:brush>
  </inkml:definitions>
  <inkml:trace contextRef="#ctx0" brushRef="#br0">0 17320 24575,'2'15'0,"1"0"0,0-1 0,1 1 0,1-1 0,0 0 0,1 0 0,15 25 0,-18-33 0,33 57 0,74 96 0,-15-23 0,-84-122 0,0 0 0,20 20 0,6 6 0,-25-25 0,1 1 0,0-2 0,1 1 0,1-2 0,0 0 0,1-1 0,0 0 0,1-1 0,18 8 0,27 17 0,-54-30 0,1 0 0,0 0 0,0-1 0,0 0 0,1-1 0,0 0 0,0-1 0,19 5 0,88 9 0,-17-2 0,147 5 0,325-22 0,-504-1 0,106-19 0,47-3 0,-107 19 0,0-5 0,-1-5 0,110-32 0,-134 31 0,-57 12 0,62-19 0,-30 1 0,106-33 0,-152 49 0,0 0 0,-1 0 0,1-2 0,-2 0 0,0-1 0,21-17 0,13-7 0,-20 15 0,-2-1 0,0-1 0,42-43 0,107-107 0,-139 132 0,-2-2 0,41-62 0,-34 49 0,-32 42 0,-1-1 0,0 0 0,0-1 0,9-18 0,-4-1 0,-1-1 0,-2 1 0,-1-2 0,-1 0 0,5-38 0,21-104 0,-11 66 0,-4 12 0,-7 41 0,-3 0 0,5-85 0,-15-359 0,-4 229 0,4 58 0,-2-240 0,-8 335 0,-32-153 0,34 228 0,-5-60 0,4-1 0,8-133 0,2 106 0,-73-2023 0,16 1534 0,-36-726 0,65 818 0,0-72 0,26 527 0,-13-275 0,-2 77 0,10 125 0,-9-1015 0,19 1044 0,5 1 0,40-185 0,-23 145 0,13-247 0,-15 102 0,97-721 0,-93 700 0,-19 192 0,-3 83 0,12-53 0,5-26 0,-7-4 0,14-144 0,-25 232 0,1 2 0,17-54 0,0-3 0,1-17 0,33-196 0,-49 249 0,2 0 0,35-107 0,-25 95 0,20-136 0,-32 160 0,-1 15 0,1 0 0,3 0 0,28-61 0,-26 63 0,33-96 0,-9 20 0,-27 87 0,19-32 0,2-3 0,-17 28 0,2 1 0,1 1 0,2 0 0,37-40 0,101-87 0,-90 98 0,2 2 0,122-71 0,-160 107 0,141-78 0,-36 27 0,33-14 0,-23 15 0,-100 47 0,-29 12 0,1 2 0,0 0 0,0 1 0,24-6 0,121-13 0,30-7 0,-150 24 0,0 3 0,60-2 0,91 10 0,-77 0 0,-44-3 0,-1 4 0,0 3 0,72 15 0,-77-8 0,-38-8 0,-1 0 0,0 3 0,54 20 0,-70-22 0,0 0 0,-1 1 0,0 1 0,-1 0 0,21 17 0,-12-8 0,46 30 0,-47-35 0,0 0 0,-1 2 0,31 29 0,-35-27 0,0 0 0,-1 1 0,-1 1 0,0 0 0,-1 0 0,-1 1 0,-1 0 0,-1 1 0,11 41 0,3 15 0,-16-58 0,0 1 0,-1 0 0,-1 0 0,2 23 0,-5 314 0,-3-173 0,0-159 0,-1 0 0,-1 0 0,-1 0 0,-9 26 0,13-46 0,0-1 0,0 0 0,-1 1 0,1-1 0,-1 0 0,0 0 0,-4 5 0,6-7 0,-1-1 0,1 1 0,0-1 0,-1 0 0,1 1 0,-1-1 0,1 0 0,0 0 0,-1 1 0,1-1 0,-1 0 0,1 0 0,-1 0 0,1 1 0,-1-1 0,1 0 0,-1 0 0,1 0 0,-1 0 0,1 0 0,-1 0 0,0 0 0,0-1 0,0 1 0,0-1 0,0 1 0,0-1 0,0 1 0,1-1 0,-1 0 0,0 0 0,0 1 0,1-1 0,-1 0 0,1 0 0,-1 0 0,0 0 0,1 1 0,-1-3 0,-8-12 0,0 0 0,-1 1 0,0-1 0,-2 2 0,1 0 0,-2 0 0,0 1 0,0 1 0,-1 0 0,-17-10 0,-4-7 0,28 22 0,0 0 0,0 1 0,-15-10 0,22 15 0,0 0 0,0 0 0,0 0 0,0 0 0,0 0 0,0 0 0,-1-1 0,1 1 0,0 0 0,0 0 0,0 0 0,0 0 0,0 0 0,0 0 0,-1 0 0,1 0 0,0 0 0,0 0 0,0 0 0,0 0 0,-1 0 0,1 0 0,0 0 0,0 0 0,0 0 0,0 0 0,0 0 0,-1 0 0,1 0 0,0 0 0,0 0 0,0 0 0,0 0 0,0 0 0,-1 0 0,1 0 0,0 1 0,0-1 0,0 0 0,0 0 0,0 0 0,0 0 0,-1 0 0,1 0 0,0 0 0,0 1 0,0-1 0,0 0 0,3 10 0,8 10 0,-2-9 0,1 0 0,1 0 0,-1-1 0,2 0 0,0 0 0,0-2 0,0 1 0,1-2 0,0 0 0,1 0 0,22 7 0,-4-2 0,-21-8 0,0 0 0,0 0 0,0-1 0,0-1 0,17 2 0,-24-4 0,0 0 0,0 0 0,0-1 0,1 1 0,-1-1 0,0 0 0,0 0 0,0-1 0,-1 1 0,1-1 0,0 0 0,-1 0 0,1 0 0,-1-1 0,1 1 0,-1-1 0,0 1 0,0-1 0,4-5 0,9-12 0,-12 15 0,0-1 0,0 1 0,1 1 0,-1-1 0,1 1 0,0-1 0,0 1 0,1 1 0,-1-1 0,10-4 0,18-11-1365,-18 8-5461</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768D0-EEC9-C852-933E-3C5F74DD16D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EC0B93A-1AB2-D6CE-32BB-08EE24A68FD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D9B21C6-F30A-C060-51B4-3F3F48C7200B}"/>
              </a:ext>
            </a:extLst>
          </p:cNvPr>
          <p:cNvSpPr>
            <a:spLocks noGrp="1"/>
          </p:cNvSpPr>
          <p:nvPr>
            <p:ph type="dt" sz="half" idx="10"/>
          </p:nvPr>
        </p:nvSpPr>
        <p:spPr/>
        <p:txBody>
          <a:bodyPr/>
          <a:lstStyle/>
          <a:p>
            <a:fld id="{E04284BA-06FA-4684-A452-16DDB3609F41}" type="datetimeFigureOut">
              <a:rPr lang="en-IN" smtClean="0"/>
              <a:t>11-07-2026</a:t>
            </a:fld>
            <a:endParaRPr lang="en-IN"/>
          </a:p>
        </p:txBody>
      </p:sp>
      <p:sp>
        <p:nvSpPr>
          <p:cNvPr id="5" name="Footer Placeholder 4">
            <a:extLst>
              <a:ext uri="{FF2B5EF4-FFF2-40B4-BE49-F238E27FC236}">
                <a16:creationId xmlns:a16="http://schemas.microsoft.com/office/drawing/2014/main" id="{A431AE25-A00A-3982-7764-52A7CD2E933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BFB6B3D-FD86-C206-D933-34C22713830E}"/>
              </a:ext>
            </a:extLst>
          </p:cNvPr>
          <p:cNvSpPr>
            <a:spLocks noGrp="1"/>
          </p:cNvSpPr>
          <p:nvPr>
            <p:ph type="sldNum" sz="quarter" idx="12"/>
          </p:nvPr>
        </p:nvSpPr>
        <p:spPr/>
        <p:txBody>
          <a:bodyPr/>
          <a:lstStyle/>
          <a:p>
            <a:fld id="{BEA3275A-61DF-48D2-A9B7-8ED0501B4C1B}" type="slidenum">
              <a:rPr lang="en-IN" smtClean="0"/>
              <a:t>‹#›</a:t>
            </a:fld>
            <a:endParaRPr lang="en-IN"/>
          </a:p>
        </p:txBody>
      </p:sp>
    </p:spTree>
    <p:extLst>
      <p:ext uri="{BB962C8B-B14F-4D97-AF65-F5344CB8AC3E}">
        <p14:creationId xmlns:p14="http://schemas.microsoft.com/office/powerpoint/2010/main" val="31111269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66BEA0-0294-EF2F-C1F2-2ABDA96BF1C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12DBFA3-2917-258D-F4BA-8465DBFF006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71C9979-3ABE-02B4-1EFA-1EB3EC01FAC3}"/>
              </a:ext>
            </a:extLst>
          </p:cNvPr>
          <p:cNvSpPr>
            <a:spLocks noGrp="1"/>
          </p:cNvSpPr>
          <p:nvPr>
            <p:ph type="dt" sz="half" idx="10"/>
          </p:nvPr>
        </p:nvSpPr>
        <p:spPr/>
        <p:txBody>
          <a:bodyPr/>
          <a:lstStyle/>
          <a:p>
            <a:fld id="{E04284BA-06FA-4684-A452-16DDB3609F41}" type="datetimeFigureOut">
              <a:rPr lang="en-IN" smtClean="0"/>
              <a:t>11-07-2026</a:t>
            </a:fld>
            <a:endParaRPr lang="en-IN"/>
          </a:p>
        </p:txBody>
      </p:sp>
      <p:sp>
        <p:nvSpPr>
          <p:cNvPr id="5" name="Footer Placeholder 4">
            <a:extLst>
              <a:ext uri="{FF2B5EF4-FFF2-40B4-BE49-F238E27FC236}">
                <a16:creationId xmlns:a16="http://schemas.microsoft.com/office/drawing/2014/main" id="{C742069D-B64C-1960-4A08-341EECBDCF6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728F193-B5B8-8673-F016-AE94C92578E3}"/>
              </a:ext>
            </a:extLst>
          </p:cNvPr>
          <p:cNvSpPr>
            <a:spLocks noGrp="1"/>
          </p:cNvSpPr>
          <p:nvPr>
            <p:ph type="sldNum" sz="quarter" idx="12"/>
          </p:nvPr>
        </p:nvSpPr>
        <p:spPr/>
        <p:txBody>
          <a:bodyPr/>
          <a:lstStyle/>
          <a:p>
            <a:fld id="{BEA3275A-61DF-48D2-A9B7-8ED0501B4C1B}" type="slidenum">
              <a:rPr lang="en-IN" smtClean="0"/>
              <a:t>‹#›</a:t>
            </a:fld>
            <a:endParaRPr lang="en-IN"/>
          </a:p>
        </p:txBody>
      </p:sp>
    </p:spTree>
    <p:extLst>
      <p:ext uri="{BB962C8B-B14F-4D97-AF65-F5344CB8AC3E}">
        <p14:creationId xmlns:p14="http://schemas.microsoft.com/office/powerpoint/2010/main" val="16684118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9EDCB-7EFE-1066-8827-05BA372A6B1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F7C9D75-EC01-1656-FD8D-8D570F731D3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0F2EE97-9C82-8865-C675-3B23A4E05F0C}"/>
              </a:ext>
            </a:extLst>
          </p:cNvPr>
          <p:cNvSpPr>
            <a:spLocks noGrp="1"/>
          </p:cNvSpPr>
          <p:nvPr>
            <p:ph type="dt" sz="half" idx="10"/>
          </p:nvPr>
        </p:nvSpPr>
        <p:spPr/>
        <p:txBody>
          <a:bodyPr/>
          <a:lstStyle/>
          <a:p>
            <a:fld id="{E04284BA-06FA-4684-A452-16DDB3609F41}" type="datetimeFigureOut">
              <a:rPr lang="en-IN" smtClean="0"/>
              <a:t>11-07-2026</a:t>
            </a:fld>
            <a:endParaRPr lang="en-IN"/>
          </a:p>
        </p:txBody>
      </p:sp>
      <p:sp>
        <p:nvSpPr>
          <p:cNvPr id="5" name="Footer Placeholder 4">
            <a:extLst>
              <a:ext uri="{FF2B5EF4-FFF2-40B4-BE49-F238E27FC236}">
                <a16:creationId xmlns:a16="http://schemas.microsoft.com/office/drawing/2014/main" id="{87A88491-B71A-B863-0AE2-F794E8A1BEA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1323BE8-0E40-E56F-9FAA-5B831DC83FA4}"/>
              </a:ext>
            </a:extLst>
          </p:cNvPr>
          <p:cNvSpPr>
            <a:spLocks noGrp="1"/>
          </p:cNvSpPr>
          <p:nvPr>
            <p:ph type="sldNum" sz="quarter" idx="12"/>
          </p:nvPr>
        </p:nvSpPr>
        <p:spPr/>
        <p:txBody>
          <a:bodyPr/>
          <a:lstStyle/>
          <a:p>
            <a:fld id="{BEA3275A-61DF-48D2-A9B7-8ED0501B4C1B}" type="slidenum">
              <a:rPr lang="en-IN" smtClean="0"/>
              <a:t>‹#›</a:t>
            </a:fld>
            <a:endParaRPr lang="en-IN"/>
          </a:p>
        </p:txBody>
      </p:sp>
    </p:spTree>
    <p:extLst>
      <p:ext uri="{BB962C8B-B14F-4D97-AF65-F5344CB8AC3E}">
        <p14:creationId xmlns:p14="http://schemas.microsoft.com/office/powerpoint/2010/main" val="15715416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A678A4-032B-0F38-FE09-8702AA839B9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2E93B53-9FCC-77D1-2BA0-E379391A23E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C6D0B30-9CF4-FA64-B431-7AF67468BA6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A5AED7B-BD56-9125-B2D0-BA301A36E72F}"/>
              </a:ext>
            </a:extLst>
          </p:cNvPr>
          <p:cNvSpPr>
            <a:spLocks noGrp="1"/>
          </p:cNvSpPr>
          <p:nvPr>
            <p:ph type="dt" sz="half" idx="10"/>
          </p:nvPr>
        </p:nvSpPr>
        <p:spPr/>
        <p:txBody>
          <a:bodyPr/>
          <a:lstStyle/>
          <a:p>
            <a:fld id="{E04284BA-06FA-4684-A452-16DDB3609F41}" type="datetimeFigureOut">
              <a:rPr lang="en-IN" smtClean="0"/>
              <a:t>11-07-2026</a:t>
            </a:fld>
            <a:endParaRPr lang="en-IN"/>
          </a:p>
        </p:txBody>
      </p:sp>
      <p:sp>
        <p:nvSpPr>
          <p:cNvPr id="6" name="Footer Placeholder 5">
            <a:extLst>
              <a:ext uri="{FF2B5EF4-FFF2-40B4-BE49-F238E27FC236}">
                <a16:creationId xmlns:a16="http://schemas.microsoft.com/office/drawing/2014/main" id="{8FE10D43-271A-FD0F-54D0-59D5C83FBF8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61D7893-07B8-3518-9C38-B9032C311AC0}"/>
              </a:ext>
            </a:extLst>
          </p:cNvPr>
          <p:cNvSpPr>
            <a:spLocks noGrp="1"/>
          </p:cNvSpPr>
          <p:nvPr>
            <p:ph type="sldNum" sz="quarter" idx="12"/>
          </p:nvPr>
        </p:nvSpPr>
        <p:spPr/>
        <p:txBody>
          <a:bodyPr/>
          <a:lstStyle/>
          <a:p>
            <a:fld id="{BEA3275A-61DF-48D2-A9B7-8ED0501B4C1B}" type="slidenum">
              <a:rPr lang="en-IN" smtClean="0"/>
              <a:t>‹#›</a:t>
            </a:fld>
            <a:endParaRPr lang="en-IN"/>
          </a:p>
        </p:txBody>
      </p:sp>
    </p:spTree>
    <p:extLst>
      <p:ext uri="{BB962C8B-B14F-4D97-AF65-F5344CB8AC3E}">
        <p14:creationId xmlns:p14="http://schemas.microsoft.com/office/powerpoint/2010/main" val="34309109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864A5-850D-3164-A8C3-9CCD6EB5F83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1A01ED3-5103-DF03-8E5F-C8B21A6A978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6797D2D-A4C6-A22F-275A-2FD07396D0D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00CBB8C-864F-2B40-F2B4-CEC56ED927E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75CF5A-29CC-CCAE-09B3-A172023C057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31B8DB0-5CF8-B210-5A09-F918A110982A}"/>
              </a:ext>
            </a:extLst>
          </p:cNvPr>
          <p:cNvSpPr>
            <a:spLocks noGrp="1"/>
          </p:cNvSpPr>
          <p:nvPr>
            <p:ph type="dt" sz="half" idx="10"/>
          </p:nvPr>
        </p:nvSpPr>
        <p:spPr/>
        <p:txBody>
          <a:bodyPr/>
          <a:lstStyle/>
          <a:p>
            <a:fld id="{E04284BA-06FA-4684-A452-16DDB3609F41}" type="datetimeFigureOut">
              <a:rPr lang="en-IN" smtClean="0"/>
              <a:t>11-07-2026</a:t>
            </a:fld>
            <a:endParaRPr lang="en-IN"/>
          </a:p>
        </p:txBody>
      </p:sp>
      <p:sp>
        <p:nvSpPr>
          <p:cNvPr id="8" name="Footer Placeholder 7">
            <a:extLst>
              <a:ext uri="{FF2B5EF4-FFF2-40B4-BE49-F238E27FC236}">
                <a16:creationId xmlns:a16="http://schemas.microsoft.com/office/drawing/2014/main" id="{68A1F90F-F15A-8295-3D13-625F2676EED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3D637C2-DE9A-DE43-B4E7-E97420EC4ADA}"/>
              </a:ext>
            </a:extLst>
          </p:cNvPr>
          <p:cNvSpPr>
            <a:spLocks noGrp="1"/>
          </p:cNvSpPr>
          <p:nvPr>
            <p:ph type="sldNum" sz="quarter" idx="12"/>
          </p:nvPr>
        </p:nvSpPr>
        <p:spPr/>
        <p:txBody>
          <a:bodyPr/>
          <a:lstStyle/>
          <a:p>
            <a:fld id="{BEA3275A-61DF-48D2-A9B7-8ED0501B4C1B}" type="slidenum">
              <a:rPr lang="en-IN" smtClean="0"/>
              <a:t>‹#›</a:t>
            </a:fld>
            <a:endParaRPr lang="en-IN"/>
          </a:p>
        </p:txBody>
      </p:sp>
    </p:spTree>
    <p:extLst>
      <p:ext uri="{BB962C8B-B14F-4D97-AF65-F5344CB8AC3E}">
        <p14:creationId xmlns:p14="http://schemas.microsoft.com/office/powerpoint/2010/main" val="11100388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C209C8-AFA0-D57D-5DD0-4E76D3796AC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8B44B26-734E-901C-F058-20E50FD03EC5}"/>
              </a:ext>
            </a:extLst>
          </p:cNvPr>
          <p:cNvSpPr>
            <a:spLocks noGrp="1"/>
          </p:cNvSpPr>
          <p:nvPr>
            <p:ph type="dt" sz="half" idx="10"/>
          </p:nvPr>
        </p:nvSpPr>
        <p:spPr/>
        <p:txBody>
          <a:bodyPr/>
          <a:lstStyle/>
          <a:p>
            <a:fld id="{E04284BA-06FA-4684-A452-16DDB3609F41}" type="datetimeFigureOut">
              <a:rPr lang="en-IN" smtClean="0"/>
              <a:t>11-07-2026</a:t>
            </a:fld>
            <a:endParaRPr lang="en-IN"/>
          </a:p>
        </p:txBody>
      </p:sp>
      <p:sp>
        <p:nvSpPr>
          <p:cNvPr id="4" name="Footer Placeholder 3">
            <a:extLst>
              <a:ext uri="{FF2B5EF4-FFF2-40B4-BE49-F238E27FC236}">
                <a16:creationId xmlns:a16="http://schemas.microsoft.com/office/drawing/2014/main" id="{BEC4DCB9-EA04-D16B-AC49-E2AF6A3E032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C92A450-16E1-FDCA-9E12-148F8C1FD80A}"/>
              </a:ext>
            </a:extLst>
          </p:cNvPr>
          <p:cNvSpPr>
            <a:spLocks noGrp="1"/>
          </p:cNvSpPr>
          <p:nvPr>
            <p:ph type="sldNum" sz="quarter" idx="12"/>
          </p:nvPr>
        </p:nvSpPr>
        <p:spPr/>
        <p:txBody>
          <a:bodyPr/>
          <a:lstStyle/>
          <a:p>
            <a:fld id="{BEA3275A-61DF-48D2-A9B7-8ED0501B4C1B}" type="slidenum">
              <a:rPr lang="en-IN" smtClean="0"/>
              <a:t>‹#›</a:t>
            </a:fld>
            <a:endParaRPr lang="en-IN"/>
          </a:p>
        </p:txBody>
      </p:sp>
    </p:spTree>
    <p:extLst>
      <p:ext uri="{BB962C8B-B14F-4D97-AF65-F5344CB8AC3E}">
        <p14:creationId xmlns:p14="http://schemas.microsoft.com/office/powerpoint/2010/main" val="6159549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5BB9928-2DFA-B38D-C4EC-25C5D87F5DC0}"/>
              </a:ext>
            </a:extLst>
          </p:cNvPr>
          <p:cNvSpPr>
            <a:spLocks noGrp="1"/>
          </p:cNvSpPr>
          <p:nvPr>
            <p:ph type="dt" sz="half" idx="10"/>
          </p:nvPr>
        </p:nvSpPr>
        <p:spPr/>
        <p:txBody>
          <a:bodyPr/>
          <a:lstStyle/>
          <a:p>
            <a:fld id="{E04284BA-06FA-4684-A452-16DDB3609F41}" type="datetimeFigureOut">
              <a:rPr lang="en-IN" smtClean="0"/>
              <a:t>11-07-2026</a:t>
            </a:fld>
            <a:endParaRPr lang="en-IN"/>
          </a:p>
        </p:txBody>
      </p:sp>
      <p:sp>
        <p:nvSpPr>
          <p:cNvPr id="3" name="Footer Placeholder 2">
            <a:extLst>
              <a:ext uri="{FF2B5EF4-FFF2-40B4-BE49-F238E27FC236}">
                <a16:creationId xmlns:a16="http://schemas.microsoft.com/office/drawing/2014/main" id="{23936DFE-AD2E-96D5-7891-3D3FC47833B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0667049-860A-0AF3-30FF-8FF88F2185F1}"/>
              </a:ext>
            </a:extLst>
          </p:cNvPr>
          <p:cNvSpPr>
            <a:spLocks noGrp="1"/>
          </p:cNvSpPr>
          <p:nvPr>
            <p:ph type="sldNum" sz="quarter" idx="12"/>
          </p:nvPr>
        </p:nvSpPr>
        <p:spPr/>
        <p:txBody>
          <a:bodyPr/>
          <a:lstStyle/>
          <a:p>
            <a:fld id="{BEA3275A-61DF-48D2-A9B7-8ED0501B4C1B}" type="slidenum">
              <a:rPr lang="en-IN" smtClean="0"/>
              <a:t>‹#›</a:t>
            </a:fld>
            <a:endParaRPr lang="en-IN"/>
          </a:p>
        </p:txBody>
      </p:sp>
    </p:spTree>
    <p:extLst>
      <p:ext uri="{BB962C8B-B14F-4D97-AF65-F5344CB8AC3E}">
        <p14:creationId xmlns:p14="http://schemas.microsoft.com/office/powerpoint/2010/main" val="30264483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EB677-5A3A-8807-1EE8-0429F89ED92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36B1C45-8144-5E5A-E777-811148920C3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9C922BA-B30F-9867-9216-6B9B40C25D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AE04097-6DFF-199F-6CB5-476681D7D7BC}"/>
              </a:ext>
            </a:extLst>
          </p:cNvPr>
          <p:cNvSpPr>
            <a:spLocks noGrp="1"/>
          </p:cNvSpPr>
          <p:nvPr>
            <p:ph type="dt" sz="half" idx="10"/>
          </p:nvPr>
        </p:nvSpPr>
        <p:spPr/>
        <p:txBody>
          <a:bodyPr/>
          <a:lstStyle/>
          <a:p>
            <a:fld id="{E04284BA-06FA-4684-A452-16DDB3609F41}" type="datetimeFigureOut">
              <a:rPr lang="en-IN" smtClean="0"/>
              <a:t>11-07-2026</a:t>
            </a:fld>
            <a:endParaRPr lang="en-IN"/>
          </a:p>
        </p:txBody>
      </p:sp>
      <p:sp>
        <p:nvSpPr>
          <p:cNvPr id="6" name="Footer Placeholder 5">
            <a:extLst>
              <a:ext uri="{FF2B5EF4-FFF2-40B4-BE49-F238E27FC236}">
                <a16:creationId xmlns:a16="http://schemas.microsoft.com/office/drawing/2014/main" id="{95B2B3A8-61B0-0DC8-FCE0-1CB1EE19ABC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7AE3F0F-334F-C961-4AF6-79760D2B5621}"/>
              </a:ext>
            </a:extLst>
          </p:cNvPr>
          <p:cNvSpPr>
            <a:spLocks noGrp="1"/>
          </p:cNvSpPr>
          <p:nvPr>
            <p:ph type="sldNum" sz="quarter" idx="12"/>
          </p:nvPr>
        </p:nvSpPr>
        <p:spPr/>
        <p:txBody>
          <a:bodyPr/>
          <a:lstStyle/>
          <a:p>
            <a:fld id="{BEA3275A-61DF-48D2-A9B7-8ED0501B4C1B}" type="slidenum">
              <a:rPr lang="en-IN" smtClean="0"/>
              <a:t>‹#›</a:t>
            </a:fld>
            <a:endParaRPr lang="en-IN"/>
          </a:p>
        </p:txBody>
      </p:sp>
    </p:spTree>
    <p:extLst>
      <p:ext uri="{BB962C8B-B14F-4D97-AF65-F5344CB8AC3E}">
        <p14:creationId xmlns:p14="http://schemas.microsoft.com/office/powerpoint/2010/main" val="10488055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7EACC-05C3-5914-949F-E6C86099CFB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B467D02-961C-2ADF-57F1-5B4028EEEEC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3114D40-FBCB-5A28-5812-F5E6855FC4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2BD9B6-A609-9D92-0F6D-73146CD7F065}"/>
              </a:ext>
            </a:extLst>
          </p:cNvPr>
          <p:cNvSpPr>
            <a:spLocks noGrp="1"/>
          </p:cNvSpPr>
          <p:nvPr>
            <p:ph type="dt" sz="half" idx="10"/>
          </p:nvPr>
        </p:nvSpPr>
        <p:spPr/>
        <p:txBody>
          <a:bodyPr/>
          <a:lstStyle/>
          <a:p>
            <a:fld id="{E04284BA-06FA-4684-A452-16DDB3609F41}" type="datetimeFigureOut">
              <a:rPr lang="en-IN" smtClean="0"/>
              <a:t>11-07-2026</a:t>
            </a:fld>
            <a:endParaRPr lang="en-IN"/>
          </a:p>
        </p:txBody>
      </p:sp>
      <p:sp>
        <p:nvSpPr>
          <p:cNvPr id="6" name="Footer Placeholder 5">
            <a:extLst>
              <a:ext uri="{FF2B5EF4-FFF2-40B4-BE49-F238E27FC236}">
                <a16:creationId xmlns:a16="http://schemas.microsoft.com/office/drawing/2014/main" id="{4CC09C9E-6E4E-B60C-7CDC-320032831D5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8A51399-3F5D-0243-6901-61136485E3D7}"/>
              </a:ext>
            </a:extLst>
          </p:cNvPr>
          <p:cNvSpPr>
            <a:spLocks noGrp="1"/>
          </p:cNvSpPr>
          <p:nvPr>
            <p:ph type="sldNum" sz="quarter" idx="12"/>
          </p:nvPr>
        </p:nvSpPr>
        <p:spPr/>
        <p:txBody>
          <a:bodyPr/>
          <a:lstStyle/>
          <a:p>
            <a:fld id="{BEA3275A-61DF-48D2-A9B7-8ED0501B4C1B}" type="slidenum">
              <a:rPr lang="en-IN" smtClean="0"/>
              <a:t>‹#›</a:t>
            </a:fld>
            <a:endParaRPr lang="en-IN"/>
          </a:p>
        </p:txBody>
      </p:sp>
    </p:spTree>
    <p:extLst>
      <p:ext uri="{BB962C8B-B14F-4D97-AF65-F5344CB8AC3E}">
        <p14:creationId xmlns:p14="http://schemas.microsoft.com/office/powerpoint/2010/main" val="39488592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BE855-A8E5-BE1F-9928-2F419C0962B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7713353-403E-1ADF-6206-51C19990F85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ADEF869-2C23-625D-0EFA-F1D959EA2E0B}"/>
              </a:ext>
            </a:extLst>
          </p:cNvPr>
          <p:cNvSpPr>
            <a:spLocks noGrp="1"/>
          </p:cNvSpPr>
          <p:nvPr>
            <p:ph type="dt" sz="half" idx="10"/>
          </p:nvPr>
        </p:nvSpPr>
        <p:spPr/>
        <p:txBody>
          <a:bodyPr/>
          <a:lstStyle/>
          <a:p>
            <a:fld id="{E04284BA-06FA-4684-A452-16DDB3609F41}" type="datetimeFigureOut">
              <a:rPr lang="en-IN" smtClean="0"/>
              <a:t>11-07-2026</a:t>
            </a:fld>
            <a:endParaRPr lang="en-IN"/>
          </a:p>
        </p:txBody>
      </p:sp>
      <p:sp>
        <p:nvSpPr>
          <p:cNvPr id="5" name="Footer Placeholder 4">
            <a:extLst>
              <a:ext uri="{FF2B5EF4-FFF2-40B4-BE49-F238E27FC236}">
                <a16:creationId xmlns:a16="http://schemas.microsoft.com/office/drawing/2014/main" id="{DDDFD811-36DC-8B51-F793-5E78B68277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1E6969E-2D3E-E031-89A6-7975BC9D1FBE}"/>
              </a:ext>
            </a:extLst>
          </p:cNvPr>
          <p:cNvSpPr>
            <a:spLocks noGrp="1"/>
          </p:cNvSpPr>
          <p:nvPr>
            <p:ph type="sldNum" sz="quarter" idx="12"/>
          </p:nvPr>
        </p:nvSpPr>
        <p:spPr/>
        <p:txBody>
          <a:bodyPr/>
          <a:lstStyle/>
          <a:p>
            <a:fld id="{BEA3275A-61DF-48D2-A9B7-8ED0501B4C1B}" type="slidenum">
              <a:rPr lang="en-IN" smtClean="0"/>
              <a:t>‹#›</a:t>
            </a:fld>
            <a:endParaRPr lang="en-IN"/>
          </a:p>
        </p:txBody>
      </p:sp>
    </p:spTree>
    <p:extLst>
      <p:ext uri="{BB962C8B-B14F-4D97-AF65-F5344CB8AC3E}">
        <p14:creationId xmlns:p14="http://schemas.microsoft.com/office/powerpoint/2010/main" val="6099023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653355-DF7F-7B24-5AF1-4908E73B713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5CCA293-4BBA-AFBB-3B02-4FEA983898A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4D6A726-19DF-A615-77C2-3770F382E1E9}"/>
              </a:ext>
            </a:extLst>
          </p:cNvPr>
          <p:cNvSpPr>
            <a:spLocks noGrp="1"/>
          </p:cNvSpPr>
          <p:nvPr>
            <p:ph type="dt" sz="half" idx="10"/>
          </p:nvPr>
        </p:nvSpPr>
        <p:spPr/>
        <p:txBody>
          <a:bodyPr/>
          <a:lstStyle/>
          <a:p>
            <a:fld id="{E04284BA-06FA-4684-A452-16DDB3609F41}" type="datetimeFigureOut">
              <a:rPr lang="en-IN" smtClean="0"/>
              <a:t>11-07-2026</a:t>
            </a:fld>
            <a:endParaRPr lang="en-IN"/>
          </a:p>
        </p:txBody>
      </p:sp>
      <p:sp>
        <p:nvSpPr>
          <p:cNvPr id="5" name="Footer Placeholder 4">
            <a:extLst>
              <a:ext uri="{FF2B5EF4-FFF2-40B4-BE49-F238E27FC236}">
                <a16:creationId xmlns:a16="http://schemas.microsoft.com/office/drawing/2014/main" id="{EA9A7F2D-0B52-3327-5871-EDDDCFB55AC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E514D6D-4BC2-B7F2-0333-31A8490984FD}"/>
              </a:ext>
            </a:extLst>
          </p:cNvPr>
          <p:cNvSpPr>
            <a:spLocks noGrp="1"/>
          </p:cNvSpPr>
          <p:nvPr>
            <p:ph type="sldNum" sz="quarter" idx="12"/>
          </p:nvPr>
        </p:nvSpPr>
        <p:spPr/>
        <p:txBody>
          <a:bodyPr/>
          <a:lstStyle/>
          <a:p>
            <a:fld id="{BEA3275A-61DF-48D2-A9B7-8ED0501B4C1B}" type="slidenum">
              <a:rPr lang="en-IN" smtClean="0"/>
              <a:t>‹#›</a:t>
            </a:fld>
            <a:endParaRPr lang="en-IN"/>
          </a:p>
        </p:txBody>
      </p:sp>
    </p:spTree>
    <p:extLst>
      <p:ext uri="{BB962C8B-B14F-4D97-AF65-F5344CB8AC3E}">
        <p14:creationId xmlns:p14="http://schemas.microsoft.com/office/powerpoint/2010/main" val="36982368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1E510D7-056D-1F72-0F00-D43D70482BE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91EB6EB-34C0-368D-B40A-31B22A285B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1793437-EC79-C3F8-33F9-E2C89FE03C7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04284BA-06FA-4684-A452-16DDB3609F41}" type="datetimeFigureOut">
              <a:rPr lang="en-IN" smtClean="0"/>
              <a:t>11-07-2026</a:t>
            </a:fld>
            <a:endParaRPr lang="en-IN"/>
          </a:p>
        </p:txBody>
      </p:sp>
      <p:sp>
        <p:nvSpPr>
          <p:cNvPr id="5" name="Footer Placeholder 4">
            <a:extLst>
              <a:ext uri="{FF2B5EF4-FFF2-40B4-BE49-F238E27FC236}">
                <a16:creationId xmlns:a16="http://schemas.microsoft.com/office/drawing/2014/main" id="{B501AD27-21C9-FE07-A522-6A84946CC1F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878AD665-38D7-3009-CC39-0FE2D546FD7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EA3275A-61DF-48D2-A9B7-8ED0501B4C1B}" type="slidenum">
              <a:rPr lang="en-IN" smtClean="0"/>
              <a:t>‹#›</a:t>
            </a:fld>
            <a:endParaRPr lang="en-IN"/>
          </a:p>
        </p:txBody>
      </p:sp>
    </p:spTree>
    <p:extLst>
      <p:ext uri="{BB962C8B-B14F-4D97-AF65-F5344CB8AC3E}">
        <p14:creationId xmlns:p14="http://schemas.microsoft.com/office/powerpoint/2010/main" val="26791960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22836E8-FFCA-90AC-DC95-91E840669494}"/>
              </a:ext>
            </a:extLst>
          </p:cNvPr>
          <p:cNvSpPr txBox="1"/>
          <p:nvPr/>
        </p:nvSpPr>
        <p:spPr>
          <a:xfrm>
            <a:off x="1235257" y="2701558"/>
            <a:ext cx="9834373" cy="2308324"/>
          </a:xfrm>
          <a:prstGeom prst="rect">
            <a:avLst/>
          </a:prstGeom>
          <a:noFill/>
        </p:spPr>
        <p:txBody>
          <a:bodyPr wrap="square">
            <a:spAutoFit/>
          </a:bodyPr>
          <a:lstStyle/>
          <a:p>
            <a:pPr>
              <a:buNone/>
            </a:pPr>
            <a:r>
              <a:rPr lang="en-IN" sz="1600" b="1" dirty="0"/>
              <a:t>Chit-Chat</a:t>
            </a:r>
            <a:r>
              <a:rPr lang="en-IN" sz="1600" dirty="0"/>
              <a:t> is a full-stack web application designed to enable real-time communication between multiple users. The goal of this project is to understand and implement the core architecture behind modern chat applications while building a scalable foundation for future enhancements.</a:t>
            </a:r>
            <a:br>
              <a:rPr lang="en-IN" sz="1600" dirty="0"/>
            </a:br>
            <a:endParaRPr lang="en-IN" sz="1600" dirty="0"/>
          </a:p>
          <a:p>
            <a:pPr>
              <a:buNone/>
            </a:pPr>
            <a:r>
              <a:rPr lang="en-IN" sz="1600" dirty="0"/>
              <a:t>For </a:t>
            </a:r>
            <a:r>
              <a:rPr lang="en-IN" sz="1600" b="1" dirty="0"/>
              <a:t>Phase 1</a:t>
            </a:r>
            <a:r>
              <a:rPr lang="en-IN" sz="1600" dirty="0"/>
              <a:t>, users can join the application using a temporary username, participate in a shared chat room, and send or receive messages instantly without creating an account.</a:t>
            </a:r>
            <a:br>
              <a:rPr lang="en-IN" sz="1600" dirty="0"/>
            </a:br>
            <a:endParaRPr lang="en-IN" sz="1600" dirty="0"/>
          </a:p>
          <a:p>
            <a:pPr>
              <a:buNone/>
            </a:pPr>
            <a:r>
              <a:rPr lang="en-IN" sz="1600" dirty="0"/>
              <a:t>The application is being developed using a </a:t>
            </a:r>
            <a:r>
              <a:rPr lang="en-IN" sz="1600" b="1" dirty="0"/>
              <a:t>Modular Monolith Architecture</a:t>
            </a:r>
            <a:r>
              <a:rPr lang="en-IN" sz="1600" dirty="0"/>
              <a:t> with a </a:t>
            </a:r>
            <a:r>
              <a:rPr lang="en-IN" sz="1600" b="1" dirty="0"/>
              <a:t>Layered Design</a:t>
            </a:r>
            <a:r>
              <a:rPr lang="en-IN" sz="1600" dirty="0"/>
              <a:t>, making it simple to build, maintain, and extend as new features are introduced.</a:t>
            </a:r>
          </a:p>
        </p:txBody>
      </p:sp>
      <p:sp>
        <p:nvSpPr>
          <p:cNvPr id="7" name="TextBox 6">
            <a:extLst>
              <a:ext uri="{FF2B5EF4-FFF2-40B4-BE49-F238E27FC236}">
                <a16:creationId xmlns:a16="http://schemas.microsoft.com/office/drawing/2014/main" id="{92FCD5E2-C9B4-7408-C887-24420F1EACA8}"/>
              </a:ext>
            </a:extLst>
          </p:cNvPr>
          <p:cNvSpPr txBox="1"/>
          <p:nvPr/>
        </p:nvSpPr>
        <p:spPr>
          <a:xfrm>
            <a:off x="4601282" y="728090"/>
            <a:ext cx="6097464" cy="646331"/>
          </a:xfrm>
          <a:prstGeom prst="rect">
            <a:avLst/>
          </a:prstGeom>
          <a:noFill/>
        </p:spPr>
        <p:txBody>
          <a:bodyPr wrap="square">
            <a:spAutoFit/>
          </a:bodyPr>
          <a:lstStyle/>
          <a:p>
            <a:pPr>
              <a:buNone/>
            </a:pPr>
            <a:r>
              <a:rPr lang="en-IN" sz="3600" b="1" dirty="0">
                <a:latin typeface="+mj-lt"/>
              </a:rPr>
              <a:t>Chit-Chat</a:t>
            </a:r>
          </a:p>
        </p:txBody>
      </p:sp>
      <p:sp>
        <p:nvSpPr>
          <p:cNvPr id="9" name="TextBox 8">
            <a:extLst>
              <a:ext uri="{FF2B5EF4-FFF2-40B4-BE49-F238E27FC236}">
                <a16:creationId xmlns:a16="http://schemas.microsoft.com/office/drawing/2014/main" id="{016F4E83-8FBA-806C-AB15-94B51BE957F3}"/>
              </a:ext>
            </a:extLst>
          </p:cNvPr>
          <p:cNvSpPr txBox="1"/>
          <p:nvPr/>
        </p:nvSpPr>
        <p:spPr>
          <a:xfrm>
            <a:off x="3978221" y="1256229"/>
            <a:ext cx="6097464" cy="369332"/>
          </a:xfrm>
          <a:prstGeom prst="rect">
            <a:avLst/>
          </a:prstGeom>
          <a:noFill/>
        </p:spPr>
        <p:txBody>
          <a:bodyPr wrap="square">
            <a:spAutoFit/>
          </a:bodyPr>
          <a:lstStyle/>
          <a:p>
            <a:pPr>
              <a:buNone/>
            </a:pPr>
            <a:r>
              <a:rPr lang="en-IN" sz="1800" i="1" dirty="0"/>
              <a:t>A Real-Time Web Chat Application</a:t>
            </a:r>
            <a:endParaRPr lang="en-IN" sz="1800" dirty="0"/>
          </a:p>
        </p:txBody>
      </p:sp>
      <p:sp>
        <p:nvSpPr>
          <p:cNvPr id="12" name="Rectangle: Rounded Corners 11">
            <a:extLst>
              <a:ext uri="{FF2B5EF4-FFF2-40B4-BE49-F238E27FC236}">
                <a16:creationId xmlns:a16="http://schemas.microsoft.com/office/drawing/2014/main" id="{9FE58D20-328F-5942-76BA-C7F07E806444}"/>
              </a:ext>
            </a:extLst>
          </p:cNvPr>
          <p:cNvSpPr/>
          <p:nvPr/>
        </p:nvSpPr>
        <p:spPr>
          <a:xfrm>
            <a:off x="936978" y="1807250"/>
            <a:ext cx="10430933" cy="732750"/>
          </a:xfrm>
          <a:prstGeom prst="round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D6CB6E59-3BED-2CD2-B227-9DCE8305D505}"/>
              </a:ext>
            </a:extLst>
          </p:cNvPr>
          <p:cNvSpPr txBox="1"/>
          <p:nvPr/>
        </p:nvSpPr>
        <p:spPr>
          <a:xfrm>
            <a:off x="1235257" y="1876701"/>
            <a:ext cx="9834373" cy="584775"/>
          </a:xfrm>
          <a:prstGeom prst="rect">
            <a:avLst/>
          </a:prstGeom>
          <a:noFill/>
        </p:spPr>
        <p:txBody>
          <a:bodyPr wrap="square">
            <a:spAutoFit/>
          </a:bodyPr>
          <a:lstStyle/>
          <a:p>
            <a:pPr>
              <a:buNone/>
            </a:pPr>
            <a:r>
              <a:rPr lang="en-IN" sz="1600" b="1" dirty="0"/>
              <a:t>Project Goal</a:t>
            </a:r>
            <a:r>
              <a:rPr lang="en-IN" sz="1600" dirty="0"/>
              <a:t> : Build a production-inspired real-time chat application that demonstrates full-stack architecture, real-time communication, and clean software design while providing a strong foundation for future scalability.</a:t>
            </a:r>
          </a:p>
        </p:txBody>
      </p:sp>
    </p:spTree>
    <p:extLst>
      <p:ext uri="{BB962C8B-B14F-4D97-AF65-F5344CB8AC3E}">
        <p14:creationId xmlns:p14="http://schemas.microsoft.com/office/powerpoint/2010/main" val="39849687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216A6-DBD3-5910-1DB8-EB301DDB485D}"/>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FFE930E6-4637-6731-B1FD-7A88671CB1B4}"/>
              </a:ext>
            </a:extLst>
          </p:cNvPr>
          <p:cNvSpPr txBox="1"/>
          <p:nvPr/>
        </p:nvSpPr>
        <p:spPr>
          <a:xfrm>
            <a:off x="5293360" y="846791"/>
            <a:ext cx="6502400" cy="369332"/>
          </a:xfrm>
          <a:prstGeom prst="rect">
            <a:avLst/>
          </a:prstGeom>
          <a:noFill/>
        </p:spPr>
        <p:txBody>
          <a:bodyPr wrap="square" rtlCol="0">
            <a:spAutoFit/>
          </a:bodyPr>
          <a:lstStyle/>
          <a:p>
            <a:r>
              <a:rPr lang="en-US" b="1" dirty="0"/>
              <a:t>SCOPE</a:t>
            </a:r>
            <a:endParaRPr lang="en-IN" dirty="0"/>
          </a:p>
        </p:txBody>
      </p:sp>
      <p:sp>
        <p:nvSpPr>
          <p:cNvPr id="2" name="TextBox 1">
            <a:extLst>
              <a:ext uri="{FF2B5EF4-FFF2-40B4-BE49-F238E27FC236}">
                <a16:creationId xmlns:a16="http://schemas.microsoft.com/office/drawing/2014/main" id="{5B80F195-608A-7227-085B-715A1EC5E99F}"/>
              </a:ext>
            </a:extLst>
          </p:cNvPr>
          <p:cNvSpPr txBox="1"/>
          <p:nvPr/>
        </p:nvSpPr>
        <p:spPr>
          <a:xfrm>
            <a:off x="689098" y="1701364"/>
            <a:ext cx="5073274" cy="2139047"/>
          </a:xfrm>
          <a:prstGeom prst="rect">
            <a:avLst/>
          </a:prstGeom>
          <a:noFill/>
        </p:spPr>
        <p:txBody>
          <a:bodyPr wrap="square" rtlCol="0">
            <a:spAutoFit/>
          </a:bodyPr>
          <a:lstStyle/>
          <a:p>
            <a:r>
              <a:rPr lang="en-IN" sz="1900" b="1" dirty="0"/>
              <a:t>Phase 1</a:t>
            </a:r>
          </a:p>
          <a:p>
            <a:pPr marL="285750" indent="-285750">
              <a:buFont typeface="Arial" panose="020B0604020202020204" pitchFamily="34" charset="0"/>
              <a:buChar char="•"/>
            </a:pPr>
            <a:r>
              <a:rPr lang="en-IN" sz="1900" dirty="0"/>
              <a:t>Join the chat using a temporary username </a:t>
            </a:r>
          </a:p>
          <a:p>
            <a:pPr marL="285750" indent="-285750">
              <a:buFont typeface="Arial" panose="020B0604020202020204" pitchFamily="34" charset="0"/>
              <a:buChar char="•"/>
            </a:pPr>
            <a:r>
              <a:rPr lang="en-IN" sz="1900" dirty="0"/>
              <a:t>Connect to a shared chat room </a:t>
            </a:r>
          </a:p>
          <a:p>
            <a:pPr marL="285750" indent="-285750">
              <a:buFont typeface="Arial" panose="020B0604020202020204" pitchFamily="34" charset="0"/>
              <a:buChar char="•"/>
            </a:pPr>
            <a:r>
              <a:rPr lang="en-IN" sz="1900" dirty="0"/>
              <a:t>Send and receive real-time messages </a:t>
            </a:r>
          </a:p>
          <a:p>
            <a:pPr marL="285750" indent="-285750">
              <a:buFont typeface="Arial" panose="020B0604020202020204" pitchFamily="34" charset="0"/>
              <a:buChar char="•"/>
            </a:pPr>
            <a:r>
              <a:rPr lang="en-IN" sz="1900" dirty="0"/>
              <a:t>Support multiple users simultaneously </a:t>
            </a:r>
          </a:p>
          <a:p>
            <a:pPr marL="285750" indent="-285750">
              <a:buFont typeface="Arial" panose="020B0604020202020204" pitchFamily="34" charset="0"/>
              <a:buChar char="•"/>
            </a:pPr>
            <a:r>
              <a:rPr lang="en-IN" sz="1900" dirty="0"/>
              <a:t>Web-based application with responsive UI </a:t>
            </a:r>
          </a:p>
          <a:p>
            <a:endParaRPr lang="en-IN" sz="1900" dirty="0"/>
          </a:p>
        </p:txBody>
      </p:sp>
      <p:cxnSp>
        <p:nvCxnSpPr>
          <p:cNvPr id="6" name="Straight Connector 5">
            <a:extLst>
              <a:ext uri="{FF2B5EF4-FFF2-40B4-BE49-F238E27FC236}">
                <a16:creationId xmlns:a16="http://schemas.microsoft.com/office/drawing/2014/main" id="{E00EA8C9-667A-1B31-D224-A99D131D9E58}"/>
              </a:ext>
            </a:extLst>
          </p:cNvPr>
          <p:cNvCxnSpPr>
            <a:cxnSpLocks/>
          </p:cNvCxnSpPr>
          <p:nvPr/>
        </p:nvCxnSpPr>
        <p:spPr>
          <a:xfrm>
            <a:off x="5762372" y="1701364"/>
            <a:ext cx="0" cy="2231379"/>
          </a:xfrm>
          <a:prstGeom prst="line">
            <a:avLst/>
          </a:prstGeom>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85A85998-B060-1DD4-740E-5008A5B92058}"/>
              </a:ext>
            </a:extLst>
          </p:cNvPr>
          <p:cNvSpPr txBox="1"/>
          <p:nvPr/>
        </p:nvSpPr>
        <p:spPr>
          <a:xfrm>
            <a:off x="6096000" y="1701363"/>
            <a:ext cx="5073274" cy="2231380"/>
          </a:xfrm>
          <a:prstGeom prst="rect">
            <a:avLst/>
          </a:prstGeom>
          <a:noFill/>
        </p:spPr>
        <p:txBody>
          <a:bodyPr wrap="square" rtlCol="0">
            <a:spAutoFit/>
          </a:bodyPr>
          <a:lstStyle/>
          <a:p>
            <a:r>
              <a:rPr lang="en-IN" sz="1900" b="1" dirty="0"/>
              <a:t>Phase 2</a:t>
            </a:r>
          </a:p>
          <a:p>
            <a:pPr marL="285750" indent="-285750">
              <a:buFont typeface="Arial" panose="020B0604020202020204" pitchFamily="34" charset="0"/>
              <a:buChar char="•"/>
            </a:pPr>
            <a:r>
              <a:rPr lang="en-IN" sz="2000" dirty="0"/>
              <a:t>User authentication </a:t>
            </a:r>
          </a:p>
          <a:p>
            <a:pPr marL="285750" indent="-285750">
              <a:buFont typeface="Arial" panose="020B0604020202020204" pitchFamily="34" charset="0"/>
              <a:buChar char="•"/>
            </a:pPr>
            <a:r>
              <a:rPr lang="en-IN" sz="2000" dirty="0"/>
              <a:t>Private user profiles </a:t>
            </a:r>
          </a:p>
          <a:p>
            <a:pPr marL="285750" indent="-285750">
              <a:buFont typeface="Arial" panose="020B0604020202020204" pitchFamily="34" charset="0"/>
              <a:buChar char="•"/>
            </a:pPr>
            <a:r>
              <a:rPr lang="en-IN" sz="2000" dirty="0"/>
              <a:t>Multiple chat servers/channels </a:t>
            </a:r>
          </a:p>
          <a:p>
            <a:pPr marL="285750" indent="-285750">
              <a:buFont typeface="Arial" panose="020B0604020202020204" pitchFamily="34" charset="0"/>
              <a:buChar char="•"/>
            </a:pPr>
            <a:r>
              <a:rPr lang="en-IN" sz="2000" dirty="0"/>
              <a:t>Direct messaging </a:t>
            </a:r>
          </a:p>
          <a:p>
            <a:pPr marL="285750" indent="-285750">
              <a:buFont typeface="Arial" panose="020B0604020202020204" pitchFamily="34" charset="0"/>
              <a:buChar char="•"/>
            </a:pPr>
            <a:r>
              <a:rPr lang="en-IN" sz="2000" dirty="0"/>
              <a:t>Media sharing </a:t>
            </a:r>
          </a:p>
          <a:p>
            <a:pPr marL="285750" indent="-285750">
              <a:buFont typeface="Arial" panose="020B0604020202020204" pitchFamily="34" charset="0"/>
              <a:buChar char="•"/>
            </a:pPr>
            <a:r>
              <a:rPr lang="en-IN" sz="2000" dirty="0"/>
              <a:t>Notifications and presence status</a:t>
            </a:r>
            <a:endParaRPr lang="en-IN" sz="1900" dirty="0"/>
          </a:p>
        </p:txBody>
      </p:sp>
    </p:spTree>
    <p:extLst>
      <p:ext uri="{BB962C8B-B14F-4D97-AF65-F5344CB8AC3E}">
        <p14:creationId xmlns:p14="http://schemas.microsoft.com/office/powerpoint/2010/main" val="5961287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9BFBEEE-54BA-B3CF-A1AE-2B688EA33FCD}"/>
              </a:ext>
            </a:extLst>
          </p:cNvPr>
          <p:cNvPicPr>
            <a:picLocks noChangeAspect="1"/>
          </p:cNvPicPr>
          <p:nvPr/>
        </p:nvPicPr>
        <p:blipFill>
          <a:blip r:embed="rId2"/>
          <a:stretch>
            <a:fillRect/>
          </a:stretch>
        </p:blipFill>
        <p:spPr>
          <a:xfrm>
            <a:off x="7897993" y="1245681"/>
            <a:ext cx="3162574" cy="4366638"/>
          </a:xfrm>
          <a:prstGeom prst="rect">
            <a:avLst/>
          </a:prstGeom>
        </p:spPr>
      </p:pic>
      <p:sp>
        <p:nvSpPr>
          <p:cNvPr id="7" name="TextBox 6">
            <a:extLst>
              <a:ext uri="{FF2B5EF4-FFF2-40B4-BE49-F238E27FC236}">
                <a16:creationId xmlns:a16="http://schemas.microsoft.com/office/drawing/2014/main" id="{FD9FBC7E-0C13-1021-6847-AD03B730C2D8}"/>
              </a:ext>
            </a:extLst>
          </p:cNvPr>
          <p:cNvSpPr txBox="1"/>
          <p:nvPr/>
        </p:nvSpPr>
        <p:spPr>
          <a:xfrm>
            <a:off x="751840" y="680720"/>
            <a:ext cx="6502400" cy="646331"/>
          </a:xfrm>
          <a:prstGeom prst="rect">
            <a:avLst/>
          </a:prstGeom>
          <a:noFill/>
        </p:spPr>
        <p:txBody>
          <a:bodyPr wrap="square" rtlCol="0">
            <a:spAutoFit/>
          </a:bodyPr>
          <a:lstStyle/>
          <a:p>
            <a:r>
              <a:rPr lang="en-US" b="1" dirty="0"/>
              <a:t>Phase 1 : Architecture Plan </a:t>
            </a:r>
            <a:br>
              <a:rPr lang="en-US" b="1" dirty="0"/>
            </a:br>
            <a:r>
              <a:rPr lang="en-US" dirty="0"/>
              <a:t>- Modular Monolith + Layered</a:t>
            </a:r>
            <a:endParaRPr lang="en-IN" dirty="0"/>
          </a:p>
        </p:txBody>
      </p:sp>
      <p:sp>
        <p:nvSpPr>
          <p:cNvPr id="14" name="Rectangle: Rounded Corners 13">
            <a:extLst>
              <a:ext uri="{FF2B5EF4-FFF2-40B4-BE49-F238E27FC236}">
                <a16:creationId xmlns:a16="http://schemas.microsoft.com/office/drawing/2014/main" id="{8AB68F64-72AA-332A-3628-CCB74171619F}"/>
              </a:ext>
            </a:extLst>
          </p:cNvPr>
          <p:cNvSpPr/>
          <p:nvPr/>
        </p:nvSpPr>
        <p:spPr>
          <a:xfrm>
            <a:off x="237392" y="1696383"/>
            <a:ext cx="6227152" cy="4906640"/>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9215BDB9-E5D1-E143-BC52-4DAA63767E2D}"/>
              </a:ext>
            </a:extLst>
          </p:cNvPr>
          <p:cNvSpPr txBox="1"/>
          <p:nvPr/>
        </p:nvSpPr>
        <p:spPr>
          <a:xfrm>
            <a:off x="751840" y="1856767"/>
            <a:ext cx="3099191" cy="4585871"/>
          </a:xfrm>
          <a:prstGeom prst="rect">
            <a:avLst/>
          </a:prstGeom>
          <a:noFill/>
        </p:spPr>
        <p:txBody>
          <a:bodyPr wrap="square">
            <a:spAutoFit/>
          </a:bodyPr>
          <a:lstStyle/>
          <a:p>
            <a:pPr>
              <a:buNone/>
            </a:pPr>
            <a:br>
              <a:rPr lang="en-IN" sz="1600" b="1" dirty="0">
                <a:latin typeface="Abadi" panose="020B0604020104020204" pitchFamily="34" charset="0"/>
                <a:ea typeface="Cascadia Code" panose="020B0609020000020004" pitchFamily="49" charset="0"/>
                <a:cs typeface="Cascadia Code" panose="020B0609020000020004" pitchFamily="49" charset="0"/>
              </a:rPr>
            </a:br>
            <a:r>
              <a:rPr lang="en-IN" sz="1600" b="1" dirty="0">
                <a:latin typeface="Abadi" panose="020B0604020104020204" pitchFamily="34" charset="0"/>
                <a:ea typeface="Cascadia Code" panose="020B0609020000020004" pitchFamily="49" charset="0"/>
                <a:cs typeface="Cascadia Code" panose="020B0609020000020004" pitchFamily="49" charset="0"/>
              </a:rPr>
              <a:t>Frontend</a:t>
            </a:r>
          </a:p>
          <a:p>
            <a:pPr>
              <a:buFont typeface="Arial" panose="020B0604020202020204" pitchFamily="34" charset="0"/>
              <a:buChar char="•"/>
            </a:pPr>
            <a:r>
              <a:rPr lang="en-IN" sz="1600" dirty="0">
                <a:latin typeface="Abadi" panose="020B0604020104020204" pitchFamily="34" charset="0"/>
                <a:ea typeface="Cascadia Code" panose="020B0609020000020004" pitchFamily="49" charset="0"/>
                <a:cs typeface="Cascadia Code" panose="020B0609020000020004" pitchFamily="49" charset="0"/>
              </a:rPr>
              <a:t> Next.js </a:t>
            </a:r>
          </a:p>
          <a:p>
            <a:pPr>
              <a:buFont typeface="Arial" panose="020B0604020202020204" pitchFamily="34" charset="0"/>
              <a:buChar char="•"/>
            </a:pPr>
            <a:r>
              <a:rPr lang="en-IN" sz="1600" dirty="0">
                <a:latin typeface="Abadi" panose="020B0604020104020204" pitchFamily="34" charset="0"/>
                <a:ea typeface="Cascadia Code" panose="020B0609020000020004" pitchFamily="49" charset="0"/>
                <a:cs typeface="Cascadia Code" panose="020B0609020000020004" pitchFamily="49" charset="0"/>
              </a:rPr>
              <a:t> React </a:t>
            </a:r>
          </a:p>
          <a:p>
            <a:pPr>
              <a:buFont typeface="Arial" panose="020B0604020202020204" pitchFamily="34" charset="0"/>
              <a:buChar char="•"/>
            </a:pPr>
            <a:r>
              <a:rPr lang="en-IN" sz="1600" dirty="0">
                <a:latin typeface="Abadi" panose="020B0604020104020204" pitchFamily="34" charset="0"/>
                <a:ea typeface="Cascadia Code" panose="020B0609020000020004" pitchFamily="49" charset="0"/>
                <a:cs typeface="Cascadia Code" panose="020B0609020000020004" pitchFamily="49" charset="0"/>
              </a:rPr>
              <a:t> TypeScript </a:t>
            </a:r>
          </a:p>
          <a:p>
            <a:pPr>
              <a:buFont typeface="Arial" panose="020B0604020202020204" pitchFamily="34" charset="0"/>
              <a:buChar char="•"/>
            </a:pPr>
            <a:r>
              <a:rPr lang="en-IN" sz="1600" dirty="0">
                <a:latin typeface="Abadi" panose="020B0604020104020204" pitchFamily="34" charset="0"/>
                <a:ea typeface="Cascadia Code" panose="020B0609020000020004" pitchFamily="49" charset="0"/>
                <a:cs typeface="Cascadia Code" panose="020B0609020000020004" pitchFamily="49" charset="0"/>
              </a:rPr>
              <a:t> </a:t>
            </a:r>
            <a:r>
              <a:rPr lang="en-IN" sz="1600" dirty="0" err="1">
                <a:latin typeface="Abadi" panose="020B0604020104020204" pitchFamily="34" charset="0"/>
                <a:ea typeface="Cascadia Code" panose="020B0609020000020004" pitchFamily="49" charset="0"/>
                <a:cs typeface="Cascadia Code" panose="020B0609020000020004" pitchFamily="49" charset="0"/>
              </a:rPr>
              <a:t>TailwindCSS</a:t>
            </a:r>
            <a:r>
              <a:rPr lang="en-IN" sz="1600" dirty="0">
                <a:latin typeface="Abadi" panose="020B0604020104020204" pitchFamily="34" charset="0"/>
                <a:ea typeface="Cascadia Code" panose="020B0609020000020004" pitchFamily="49" charset="0"/>
                <a:cs typeface="Cascadia Code" panose="020B0609020000020004" pitchFamily="49" charset="0"/>
              </a:rPr>
              <a:t> </a:t>
            </a:r>
          </a:p>
          <a:p>
            <a:pPr>
              <a:buNone/>
            </a:pPr>
            <a:endParaRPr lang="en-IN" sz="1600" dirty="0">
              <a:latin typeface="Abadi" panose="020B0604020104020204" pitchFamily="34" charset="0"/>
              <a:ea typeface="Cascadia Code" panose="020B0609020000020004" pitchFamily="49" charset="0"/>
              <a:cs typeface="Cascadia Code" panose="020B0609020000020004" pitchFamily="49" charset="0"/>
            </a:endParaRPr>
          </a:p>
          <a:p>
            <a:pPr>
              <a:buNone/>
            </a:pPr>
            <a:r>
              <a:rPr lang="en-IN" sz="1600" b="1" dirty="0">
                <a:latin typeface="Abadi" panose="020B0604020104020204" pitchFamily="34" charset="0"/>
                <a:ea typeface="Cascadia Code" panose="020B0609020000020004" pitchFamily="49" charset="0"/>
                <a:cs typeface="Cascadia Code" panose="020B0609020000020004" pitchFamily="49" charset="0"/>
              </a:rPr>
              <a:t>Backend</a:t>
            </a:r>
          </a:p>
          <a:p>
            <a:pPr>
              <a:buFont typeface="Arial" panose="020B0604020202020204" pitchFamily="34" charset="0"/>
              <a:buChar char="•"/>
            </a:pPr>
            <a:r>
              <a:rPr lang="en-IN" sz="1600" dirty="0">
                <a:latin typeface="Abadi" panose="020B0604020104020204" pitchFamily="34" charset="0"/>
                <a:ea typeface="Cascadia Code" panose="020B0609020000020004" pitchFamily="49" charset="0"/>
                <a:cs typeface="Cascadia Code" panose="020B0609020000020004" pitchFamily="49" charset="0"/>
              </a:rPr>
              <a:t> Node.js </a:t>
            </a:r>
          </a:p>
          <a:p>
            <a:pPr>
              <a:buFont typeface="Arial" panose="020B0604020202020204" pitchFamily="34" charset="0"/>
              <a:buChar char="•"/>
            </a:pPr>
            <a:r>
              <a:rPr lang="en-IN" sz="1600" dirty="0">
                <a:latin typeface="Abadi" panose="020B0604020104020204" pitchFamily="34" charset="0"/>
                <a:ea typeface="Cascadia Code" panose="020B0609020000020004" pitchFamily="49" charset="0"/>
                <a:cs typeface="Cascadia Code" panose="020B0609020000020004" pitchFamily="49" charset="0"/>
              </a:rPr>
              <a:t> Express.js </a:t>
            </a:r>
            <a:br>
              <a:rPr lang="en-IN" sz="1600" dirty="0">
                <a:latin typeface="Abadi" panose="020B0604020104020204" pitchFamily="34" charset="0"/>
                <a:ea typeface="Cascadia Code" panose="020B0609020000020004" pitchFamily="49" charset="0"/>
                <a:cs typeface="Cascadia Code" panose="020B0609020000020004" pitchFamily="49" charset="0"/>
              </a:rPr>
            </a:br>
            <a:endParaRPr lang="en-IN" sz="1600" dirty="0">
              <a:latin typeface="Abadi" panose="020B0604020104020204" pitchFamily="34" charset="0"/>
              <a:ea typeface="Cascadia Code" panose="020B0609020000020004" pitchFamily="49" charset="0"/>
              <a:cs typeface="Cascadia Code" panose="020B0609020000020004" pitchFamily="49" charset="0"/>
            </a:endParaRPr>
          </a:p>
          <a:p>
            <a:pPr>
              <a:buNone/>
            </a:pPr>
            <a:r>
              <a:rPr lang="en-IN" sz="1600" b="1" dirty="0">
                <a:latin typeface="Abadi" panose="020B0604020104020204" pitchFamily="34" charset="0"/>
                <a:ea typeface="Cascadia Code" panose="020B0609020000020004" pitchFamily="49" charset="0"/>
                <a:cs typeface="Cascadia Code" panose="020B0609020000020004" pitchFamily="49" charset="0"/>
              </a:rPr>
              <a:t>Real-time Communication</a:t>
            </a:r>
          </a:p>
          <a:p>
            <a:pPr>
              <a:buFont typeface="Arial" panose="020B0604020202020204" pitchFamily="34" charset="0"/>
              <a:buChar char="•"/>
            </a:pPr>
            <a:r>
              <a:rPr lang="en-IN" sz="1600" dirty="0">
                <a:latin typeface="Abadi" panose="020B0604020104020204" pitchFamily="34" charset="0"/>
                <a:ea typeface="Cascadia Code" panose="020B0609020000020004" pitchFamily="49" charset="0"/>
                <a:cs typeface="Cascadia Code" panose="020B0609020000020004" pitchFamily="49" charset="0"/>
              </a:rPr>
              <a:t> Socket.IO </a:t>
            </a:r>
          </a:p>
          <a:p>
            <a:pPr>
              <a:buNone/>
            </a:pPr>
            <a:r>
              <a:rPr lang="en-IN" sz="1600" dirty="0">
                <a:latin typeface="Abadi" panose="020B0604020104020204" pitchFamily="34" charset="0"/>
                <a:ea typeface="Cascadia Code" panose="020B0609020000020004" pitchFamily="49" charset="0"/>
                <a:cs typeface="Cascadia Code" panose="020B0609020000020004" pitchFamily="49" charset="0"/>
              </a:rPr>
              <a:t>(Socket.IO is much easier than raw </a:t>
            </a:r>
            <a:r>
              <a:rPr lang="en-IN" sz="1600" dirty="0" err="1">
                <a:latin typeface="Abadi" panose="020B0604020104020204" pitchFamily="34" charset="0"/>
                <a:ea typeface="Cascadia Code" panose="020B0609020000020004" pitchFamily="49" charset="0"/>
                <a:cs typeface="Cascadia Code" panose="020B0609020000020004" pitchFamily="49" charset="0"/>
              </a:rPr>
              <a:t>WebSockets</a:t>
            </a:r>
            <a:r>
              <a:rPr lang="en-IN" sz="1600" dirty="0">
                <a:latin typeface="Abadi" panose="020B0604020104020204" pitchFamily="34" charset="0"/>
                <a:ea typeface="Cascadia Code" panose="020B0609020000020004" pitchFamily="49" charset="0"/>
                <a:cs typeface="Cascadia Code" panose="020B0609020000020004" pitchFamily="49" charset="0"/>
              </a:rPr>
              <a:t> for an internship.)</a:t>
            </a:r>
          </a:p>
          <a:p>
            <a:pPr>
              <a:buNone/>
            </a:pPr>
            <a:br>
              <a:rPr lang="en-IN" dirty="0">
                <a:latin typeface="Abadi" panose="020B0604020104020204" pitchFamily="34" charset="0"/>
              </a:rPr>
            </a:br>
            <a:endParaRPr lang="en-IN" dirty="0">
              <a:latin typeface="Abadi" panose="020B0604020104020204" pitchFamily="34" charset="0"/>
            </a:endParaRPr>
          </a:p>
        </p:txBody>
      </p:sp>
      <p:sp>
        <p:nvSpPr>
          <p:cNvPr id="11" name="TextBox 10">
            <a:extLst>
              <a:ext uri="{FF2B5EF4-FFF2-40B4-BE49-F238E27FC236}">
                <a16:creationId xmlns:a16="http://schemas.microsoft.com/office/drawing/2014/main" id="{DACB6300-0C24-4B57-3997-526C269BFADB}"/>
              </a:ext>
            </a:extLst>
          </p:cNvPr>
          <p:cNvSpPr txBox="1"/>
          <p:nvPr/>
        </p:nvSpPr>
        <p:spPr>
          <a:xfrm>
            <a:off x="3851031" y="1757939"/>
            <a:ext cx="2613513" cy="4524315"/>
          </a:xfrm>
          <a:prstGeom prst="rect">
            <a:avLst/>
          </a:prstGeom>
          <a:noFill/>
        </p:spPr>
        <p:txBody>
          <a:bodyPr wrap="square">
            <a:spAutoFit/>
          </a:bodyPr>
          <a:lstStyle/>
          <a:p>
            <a:pPr>
              <a:buNone/>
            </a:pPr>
            <a:endParaRPr lang="en-IN" sz="1600" dirty="0">
              <a:latin typeface="Abadi" panose="020B0604020104020204" pitchFamily="34" charset="0"/>
              <a:ea typeface="Cascadia Code" panose="020B0609020000020004" pitchFamily="49" charset="0"/>
              <a:cs typeface="Cascadia Code" panose="020B0609020000020004" pitchFamily="49" charset="0"/>
            </a:endParaRPr>
          </a:p>
          <a:p>
            <a:pPr>
              <a:buNone/>
            </a:pPr>
            <a:r>
              <a:rPr lang="en-IN" sz="1600" b="1" dirty="0">
                <a:latin typeface="Abadi" panose="020B0604020104020204" pitchFamily="34" charset="0"/>
                <a:ea typeface="Cascadia Code" panose="020B0609020000020004" pitchFamily="49" charset="0"/>
                <a:cs typeface="Cascadia Code" panose="020B0609020000020004" pitchFamily="49" charset="0"/>
              </a:rPr>
              <a:t>Database</a:t>
            </a:r>
          </a:p>
          <a:p>
            <a:pPr>
              <a:buFont typeface="Arial" panose="020B0604020202020204" pitchFamily="34" charset="0"/>
              <a:buChar char="•"/>
            </a:pPr>
            <a:r>
              <a:rPr lang="en-IN" sz="1600" dirty="0">
                <a:latin typeface="Abadi" panose="020B0604020104020204" pitchFamily="34" charset="0"/>
                <a:ea typeface="Cascadia Code" panose="020B0609020000020004" pitchFamily="49" charset="0"/>
                <a:cs typeface="Cascadia Code" panose="020B0609020000020004" pitchFamily="49" charset="0"/>
              </a:rPr>
              <a:t> PostgreSQL </a:t>
            </a:r>
          </a:p>
          <a:p>
            <a:pPr>
              <a:buNone/>
            </a:pPr>
            <a:r>
              <a:rPr lang="en-IN" sz="1600" dirty="0">
                <a:latin typeface="Abadi" panose="020B0604020104020204" pitchFamily="34" charset="0"/>
                <a:ea typeface="Cascadia Code" panose="020B0609020000020004" pitchFamily="49" charset="0"/>
                <a:cs typeface="Cascadia Code" panose="020B0609020000020004" pitchFamily="49" charset="0"/>
              </a:rPr>
              <a:t>or</a:t>
            </a:r>
          </a:p>
          <a:p>
            <a:pPr>
              <a:buFont typeface="Arial" panose="020B0604020202020204" pitchFamily="34" charset="0"/>
              <a:buChar char="•"/>
            </a:pPr>
            <a:r>
              <a:rPr lang="en-IN" sz="1600" dirty="0">
                <a:latin typeface="Abadi" panose="020B0604020104020204" pitchFamily="34" charset="0"/>
                <a:ea typeface="Cascadia Code" panose="020B0609020000020004" pitchFamily="49" charset="0"/>
                <a:cs typeface="Cascadia Code" panose="020B0609020000020004" pitchFamily="49" charset="0"/>
              </a:rPr>
              <a:t> </a:t>
            </a:r>
            <a:r>
              <a:rPr lang="en-IN" sz="1600" dirty="0" err="1">
                <a:latin typeface="Abadi" panose="020B0604020104020204" pitchFamily="34" charset="0"/>
                <a:ea typeface="Cascadia Code" panose="020B0609020000020004" pitchFamily="49" charset="0"/>
                <a:cs typeface="Cascadia Code" panose="020B0609020000020004" pitchFamily="49" charset="0"/>
              </a:rPr>
              <a:t>Supabase</a:t>
            </a:r>
            <a:r>
              <a:rPr lang="en-IN" sz="1600" dirty="0">
                <a:latin typeface="Abadi" panose="020B0604020104020204" pitchFamily="34" charset="0"/>
                <a:ea typeface="Cascadia Code" panose="020B0609020000020004" pitchFamily="49" charset="0"/>
                <a:cs typeface="Cascadia Code" panose="020B0609020000020004" pitchFamily="49" charset="0"/>
              </a:rPr>
              <a:t> PostgreSQL </a:t>
            </a:r>
          </a:p>
          <a:p>
            <a:pPr>
              <a:buNone/>
            </a:pPr>
            <a:br>
              <a:rPr lang="en-IN" sz="1600" dirty="0">
                <a:latin typeface="Abadi" panose="020B0604020104020204" pitchFamily="34" charset="0"/>
                <a:ea typeface="Cascadia Code" panose="020B0609020000020004" pitchFamily="49" charset="0"/>
                <a:cs typeface="Cascadia Code" panose="020B0609020000020004" pitchFamily="49" charset="0"/>
              </a:rPr>
            </a:br>
            <a:endParaRPr lang="en-IN" sz="1600" dirty="0">
              <a:latin typeface="Abadi" panose="020B0604020104020204" pitchFamily="34" charset="0"/>
              <a:ea typeface="Cascadia Code" panose="020B0609020000020004" pitchFamily="49" charset="0"/>
              <a:cs typeface="Cascadia Code" panose="020B0609020000020004" pitchFamily="49" charset="0"/>
            </a:endParaRPr>
          </a:p>
          <a:p>
            <a:pPr>
              <a:buNone/>
            </a:pPr>
            <a:r>
              <a:rPr lang="en-IN" sz="1600" b="1" dirty="0">
                <a:latin typeface="Abadi" panose="020B0604020104020204" pitchFamily="34" charset="0"/>
                <a:ea typeface="Cascadia Code" panose="020B0609020000020004" pitchFamily="49" charset="0"/>
                <a:cs typeface="Cascadia Code" panose="020B0609020000020004" pitchFamily="49" charset="0"/>
              </a:rPr>
              <a:t>ORM</a:t>
            </a:r>
          </a:p>
          <a:p>
            <a:pPr>
              <a:buFont typeface="Arial" panose="020B0604020202020204" pitchFamily="34" charset="0"/>
              <a:buChar char="•"/>
            </a:pPr>
            <a:r>
              <a:rPr lang="en-IN" sz="1600" dirty="0">
                <a:latin typeface="Abadi" panose="020B0604020104020204" pitchFamily="34" charset="0"/>
                <a:ea typeface="Cascadia Code" panose="020B0609020000020004" pitchFamily="49" charset="0"/>
                <a:cs typeface="Cascadia Code" panose="020B0609020000020004" pitchFamily="49" charset="0"/>
              </a:rPr>
              <a:t> Prisma </a:t>
            </a:r>
          </a:p>
          <a:p>
            <a:pPr>
              <a:buNone/>
            </a:pPr>
            <a:br>
              <a:rPr lang="en-IN" sz="1600" dirty="0">
                <a:latin typeface="Abadi" panose="020B0604020104020204" pitchFamily="34" charset="0"/>
                <a:ea typeface="Cascadia Code" panose="020B0609020000020004" pitchFamily="49" charset="0"/>
                <a:cs typeface="Cascadia Code" panose="020B0609020000020004" pitchFamily="49" charset="0"/>
              </a:rPr>
            </a:br>
            <a:endParaRPr lang="en-IN" sz="1600" dirty="0">
              <a:latin typeface="Abadi" panose="020B0604020104020204" pitchFamily="34" charset="0"/>
              <a:ea typeface="Cascadia Code" panose="020B0609020000020004" pitchFamily="49" charset="0"/>
              <a:cs typeface="Cascadia Code" panose="020B0609020000020004" pitchFamily="49" charset="0"/>
            </a:endParaRPr>
          </a:p>
          <a:p>
            <a:pPr>
              <a:buNone/>
            </a:pPr>
            <a:r>
              <a:rPr lang="en-IN" sz="1600" b="1" dirty="0">
                <a:latin typeface="Abadi" panose="020B0604020104020204" pitchFamily="34" charset="0"/>
                <a:ea typeface="Cascadia Code" panose="020B0609020000020004" pitchFamily="49" charset="0"/>
                <a:cs typeface="Cascadia Code" panose="020B0609020000020004" pitchFamily="49" charset="0"/>
              </a:rPr>
              <a:t>Deployment</a:t>
            </a:r>
          </a:p>
          <a:p>
            <a:pPr>
              <a:buNone/>
            </a:pPr>
            <a:r>
              <a:rPr lang="en-IN" sz="1600" dirty="0">
                <a:latin typeface="Abadi" panose="020B0604020104020204" pitchFamily="34" charset="0"/>
                <a:ea typeface="Cascadia Code" panose="020B0609020000020004" pitchFamily="49" charset="0"/>
                <a:cs typeface="Cascadia Code" panose="020B0609020000020004" pitchFamily="49" charset="0"/>
              </a:rPr>
              <a:t>Frontend</a:t>
            </a:r>
          </a:p>
          <a:p>
            <a:pPr lvl="1">
              <a:buFont typeface="Arial" panose="020B0604020202020204" pitchFamily="34" charset="0"/>
              <a:buChar char="•"/>
            </a:pPr>
            <a:r>
              <a:rPr lang="en-IN" sz="1600" dirty="0">
                <a:latin typeface="Abadi" panose="020B0604020104020204" pitchFamily="34" charset="0"/>
                <a:ea typeface="Cascadia Code" panose="020B0609020000020004" pitchFamily="49" charset="0"/>
                <a:cs typeface="Cascadia Code" panose="020B0609020000020004" pitchFamily="49" charset="0"/>
              </a:rPr>
              <a:t> </a:t>
            </a:r>
            <a:r>
              <a:rPr lang="en-IN" sz="1600" dirty="0" err="1">
                <a:latin typeface="Abadi" panose="020B0604020104020204" pitchFamily="34" charset="0"/>
                <a:ea typeface="Cascadia Code" panose="020B0609020000020004" pitchFamily="49" charset="0"/>
                <a:cs typeface="Cascadia Code" panose="020B0609020000020004" pitchFamily="49" charset="0"/>
              </a:rPr>
              <a:t>Vercel</a:t>
            </a:r>
            <a:r>
              <a:rPr lang="en-IN" sz="1600" dirty="0">
                <a:latin typeface="Abadi" panose="020B0604020104020204" pitchFamily="34" charset="0"/>
                <a:ea typeface="Cascadia Code" panose="020B0609020000020004" pitchFamily="49" charset="0"/>
                <a:cs typeface="Cascadia Code" panose="020B0609020000020004" pitchFamily="49" charset="0"/>
              </a:rPr>
              <a:t> </a:t>
            </a:r>
          </a:p>
          <a:p>
            <a:pPr>
              <a:buNone/>
            </a:pPr>
            <a:r>
              <a:rPr lang="en-IN" sz="1600" dirty="0">
                <a:latin typeface="Abadi" panose="020B0604020104020204" pitchFamily="34" charset="0"/>
                <a:ea typeface="Cascadia Code" panose="020B0609020000020004" pitchFamily="49" charset="0"/>
                <a:cs typeface="Cascadia Code" panose="020B0609020000020004" pitchFamily="49" charset="0"/>
              </a:rPr>
              <a:t>Backend</a:t>
            </a:r>
          </a:p>
          <a:p>
            <a:pPr lvl="1">
              <a:buFont typeface="Arial" panose="020B0604020202020204" pitchFamily="34" charset="0"/>
              <a:buChar char="•"/>
            </a:pPr>
            <a:r>
              <a:rPr lang="en-IN" sz="1600" dirty="0">
                <a:latin typeface="Abadi" panose="020B0604020104020204" pitchFamily="34" charset="0"/>
                <a:ea typeface="Cascadia Code" panose="020B0609020000020004" pitchFamily="49" charset="0"/>
                <a:cs typeface="Cascadia Code" panose="020B0609020000020004" pitchFamily="49" charset="0"/>
              </a:rPr>
              <a:t>Render </a:t>
            </a:r>
          </a:p>
          <a:p>
            <a:pPr>
              <a:buNone/>
            </a:pPr>
            <a:r>
              <a:rPr lang="en-IN" sz="1600" dirty="0">
                <a:latin typeface="Abadi" panose="020B0604020104020204" pitchFamily="34" charset="0"/>
                <a:ea typeface="Cascadia Code" panose="020B0609020000020004" pitchFamily="49" charset="0"/>
                <a:cs typeface="Cascadia Code" panose="020B0609020000020004" pitchFamily="49" charset="0"/>
              </a:rPr>
              <a:t>Database</a:t>
            </a:r>
          </a:p>
          <a:p>
            <a:pPr lvl="1">
              <a:buFont typeface="Arial" panose="020B0604020202020204" pitchFamily="34" charset="0"/>
              <a:buChar char="•"/>
            </a:pPr>
            <a:r>
              <a:rPr lang="en-IN" sz="1600" dirty="0" err="1">
                <a:latin typeface="Abadi" panose="020B0604020104020204" pitchFamily="34" charset="0"/>
                <a:ea typeface="Cascadia Code" panose="020B0609020000020004" pitchFamily="49" charset="0"/>
                <a:cs typeface="Cascadia Code" panose="020B0609020000020004" pitchFamily="49" charset="0"/>
              </a:rPr>
              <a:t>Supabase</a:t>
            </a:r>
            <a:endParaRPr lang="en-IN" sz="1600" dirty="0">
              <a:latin typeface="Abadi" panose="020B0604020104020204" pitchFamily="34" charset="0"/>
              <a:ea typeface="Cascadia Code" panose="020B0609020000020004" pitchFamily="49" charset="0"/>
              <a:cs typeface="Cascadia Code" panose="020B0609020000020004" pitchFamily="49" charset="0"/>
            </a:endParaRPr>
          </a:p>
        </p:txBody>
      </p:sp>
      <p:sp>
        <p:nvSpPr>
          <p:cNvPr id="15" name="Rectangle: Top Corners Rounded 14">
            <a:extLst>
              <a:ext uri="{FF2B5EF4-FFF2-40B4-BE49-F238E27FC236}">
                <a16:creationId xmlns:a16="http://schemas.microsoft.com/office/drawing/2014/main" id="{09F405F5-4991-5D97-0482-6830DD118287}"/>
              </a:ext>
            </a:extLst>
          </p:cNvPr>
          <p:cNvSpPr/>
          <p:nvPr/>
        </p:nvSpPr>
        <p:spPr>
          <a:xfrm>
            <a:off x="2409092" y="1327051"/>
            <a:ext cx="1441939" cy="369332"/>
          </a:xfrm>
          <a:prstGeom prst="round2Same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A7B8D9E2-434E-87DF-2244-CEF82182A1F9}"/>
              </a:ext>
            </a:extLst>
          </p:cNvPr>
          <p:cNvSpPr txBox="1"/>
          <p:nvPr/>
        </p:nvSpPr>
        <p:spPr>
          <a:xfrm>
            <a:off x="2494817" y="1327051"/>
            <a:ext cx="6097464" cy="369332"/>
          </a:xfrm>
          <a:prstGeom prst="rect">
            <a:avLst/>
          </a:prstGeom>
          <a:noFill/>
        </p:spPr>
        <p:txBody>
          <a:bodyPr wrap="square">
            <a:spAutoFit/>
          </a:bodyPr>
          <a:lstStyle/>
          <a:p>
            <a:pPr>
              <a:buNone/>
            </a:pPr>
            <a:r>
              <a:rPr lang="en-IN" sz="1800" b="1" u="sng" dirty="0">
                <a:latin typeface="Abadi" panose="020B0604020104020204" pitchFamily="34" charset="0"/>
              </a:rPr>
              <a:t>Tech Stack</a:t>
            </a:r>
          </a:p>
        </p:txBody>
      </p:sp>
    </p:spTree>
    <p:extLst>
      <p:ext uri="{BB962C8B-B14F-4D97-AF65-F5344CB8AC3E}">
        <p14:creationId xmlns:p14="http://schemas.microsoft.com/office/powerpoint/2010/main" val="9916574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AA154-C21D-B3F7-038E-9C9045DB77A6}"/>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6C8B0F0A-1BAF-3CC1-AFF5-942D89EBBC62}"/>
              </a:ext>
            </a:extLst>
          </p:cNvPr>
          <p:cNvSpPr txBox="1"/>
          <p:nvPr/>
        </p:nvSpPr>
        <p:spPr>
          <a:xfrm>
            <a:off x="751840" y="680720"/>
            <a:ext cx="6502400" cy="369332"/>
          </a:xfrm>
          <a:prstGeom prst="rect">
            <a:avLst/>
          </a:prstGeom>
          <a:noFill/>
        </p:spPr>
        <p:txBody>
          <a:bodyPr wrap="square" rtlCol="0">
            <a:spAutoFit/>
          </a:bodyPr>
          <a:lstStyle/>
          <a:p>
            <a:r>
              <a:rPr lang="en-US" b="1" dirty="0"/>
              <a:t>Phase 1 : Folder Structure </a:t>
            </a:r>
            <a:endParaRPr lang="en-IN" dirty="0"/>
          </a:p>
        </p:txBody>
      </p:sp>
      <p:sp>
        <p:nvSpPr>
          <p:cNvPr id="14" name="Rectangle: Rounded Corners 13">
            <a:extLst>
              <a:ext uri="{FF2B5EF4-FFF2-40B4-BE49-F238E27FC236}">
                <a16:creationId xmlns:a16="http://schemas.microsoft.com/office/drawing/2014/main" id="{8135DD6E-AD21-A7B6-1BB9-A8608900345A}"/>
              </a:ext>
            </a:extLst>
          </p:cNvPr>
          <p:cNvSpPr/>
          <p:nvPr/>
        </p:nvSpPr>
        <p:spPr>
          <a:xfrm>
            <a:off x="439615" y="1696383"/>
            <a:ext cx="3200400" cy="297568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361CF1D0-009B-6582-8378-F057CFFEB8BE}"/>
              </a:ext>
            </a:extLst>
          </p:cNvPr>
          <p:cNvSpPr txBox="1"/>
          <p:nvPr/>
        </p:nvSpPr>
        <p:spPr>
          <a:xfrm>
            <a:off x="713501" y="1789359"/>
            <a:ext cx="3617937" cy="2677656"/>
          </a:xfrm>
          <a:prstGeom prst="rect">
            <a:avLst/>
          </a:prstGeom>
          <a:noFill/>
        </p:spPr>
        <p:txBody>
          <a:bodyPr wrap="square">
            <a:spAutoFit/>
          </a:bodyPr>
          <a:lstStyle/>
          <a:p>
            <a:pPr>
              <a:buNone/>
            </a:pPr>
            <a:r>
              <a:rPr lang="en-IN" sz="1200" b="1" dirty="0">
                <a:latin typeface="Cascadia Code" panose="020B0609020000020004" pitchFamily="49" charset="0"/>
                <a:ea typeface="Cascadia Code" panose="020B0609020000020004" pitchFamily="49" charset="0"/>
                <a:cs typeface="Cascadia Code" panose="020B0609020000020004" pitchFamily="49" charset="0"/>
              </a:rPr>
              <a:t>backend/</a:t>
            </a:r>
          </a:p>
          <a:p>
            <a:pPr>
              <a:buNone/>
            </a:pPr>
            <a:br>
              <a:rPr lang="en-IN" sz="1200" b="1" dirty="0">
                <a:latin typeface="Cascadia Code" panose="020B0609020000020004" pitchFamily="49" charset="0"/>
                <a:ea typeface="Cascadia Code" panose="020B0609020000020004" pitchFamily="49" charset="0"/>
                <a:cs typeface="Cascadia Code" panose="020B0609020000020004" pitchFamily="49" charset="0"/>
              </a:rPr>
            </a:br>
            <a:r>
              <a:rPr lang="en-IN" sz="1200" b="1" dirty="0">
                <a:latin typeface="Cascadia Code" panose="020B0609020000020004" pitchFamily="49" charset="0"/>
                <a:ea typeface="Cascadia Code" panose="020B0609020000020004" pitchFamily="49" charset="0"/>
                <a:cs typeface="Cascadia Code" panose="020B0609020000020004" pitchFamily="49" charset="0"/>
              </a:rPr>
              <a:t>        </a:t>
            </a:r>
            <a:r>
              <a:rPr lang="en-IN" sz="1200" b="1" dirty="0" err="1">
                <a:latin typeface="Cascadia Code" panose="020B0609020000020004" pitchFamily="49" charset="0"/>
                <a:ea typeface="Cascadia Code" panose="020B0609020000020004" pitchFamily="49" charset="0"/>
                <a:cs typeface="Cascadia Code" panose="020B0609020000020004" pitchFamily="49" charset="0"/>
              </a:rPr>
              <a:t>src</a:t>
            </a:r>
            <a:r>
              <a:rPr lang="en-IN" sz="1200" b="1" dirty="0">
                <a:latin typeface="Cascadia Code" panose="020B0609020000020004" pitchFamily="49" charset="0"/>
                <a:ea typeface="Cascadia Code" panose="020B0609020000020004" pitchFamily="49" charset="0"/>
                <a:cs typeface="Cascadia Code" panose="020B0609020000020004" pitchFamily="49" charset="0"/>
              </a:rPr>
              <a:t>/</a:t>
            </a:r>
          </a:p>
          <a:p>
            <a:pPr>
              <a:buNone/>
            </a:pPr>
            <a:r>
              <a:rPr lang="en-IN" sz="1200" b="1" dirty="0">
                <a:latin typeface="Cascadia Code" panose="020B0609020000020004" pitchFamily="49" charset="0"/>
                <a:ea typeface="Cascadia Code" panose="020B0609020000020004" pitchFamily="49" charset="0"/>
                <a:cs typeface="Cascadia Code" panose="020B0609020000020004" pitchFamily="49" charset="0"/>
              </a:rPr>
              <a:t>             modules/</a:t>
            </a:r>
          </a:p>
          <a:p>
            <a:pPr>
              <a:buNone/>
            </a:pPr>
            <a:r>
              <a:rPr lang="en-IN" sz="1200" b="1" dirty="0">
                <a:latin typeface="Cascadia Code" panose="020B0609020000020004" pitchFamily="49" charset="0"/>
                <a:ea typeface="Cascadia Code" panose="020B0609020000020004" pitchFamily="49" charset="0"/>
                <a:cs typeface="Cascadia Code" panose="020B0609020000020004" pitchFamily="49" charset="0"/>
              </a:rPr>
              <a:t>        	       username/</a:t>
            </a:r>
          </a:p>
          <a:p>
            <a:pPr>
              <a:buNone/>
            </a:pPr>
            <a:r>
              <a:rPr lang="en-IN" sz="1200" b="1" dirty="0">
                <a:latin typeface="Cascadia Code" panose="020B0609020000020004" pitchFamily="49" charset="0"/>
                <a:ea typeface="Cascadia Code" panose="020B0609020000020004" pitchFamily="49" charset="0"/>
                <a:cs typeface="Cascadia Code" panose="020B0609020000020004" pitchFamily="49" charset="0"/>
              </a:rPr>
              <a:t>        	       chat/</a:t>
            </a:r>
          </a:p>
          <a:p>
            <a:pPr>
              <a:buNone/>
            </a:pPr>
            <a:r>
              <a:rPr lang="en-IN" sz="1200" b="1" dirty="0">
                <a:latin typeface="Cascadia Code" panose="020B0609020000020004" pitchFamily="49" charset="0"/>
                <a:ea typeface="Cascadia Code" panose="020B0609020000020004" pitchFamily="49" charset="0"/>
                <a:cs typeface="Cascadia Code" panose="020B0609020000020004" pitchFamily="49" charset="0"/>
              </a:rPr>
              <a:t>        	       </a:t>
            </a:r>
            <a:r>
              <a:rPr lang="en-IN" sz="1200" b="1" dirty="0" err="1">
                <a:latin typeface="Cascadia Code" panose="020B0609020000020004" pitchFamily="49" charset="0"/>
                <a:ea typeface="Cascadia Code" panose="020B0609020000020004" pitchFamily="49" charset="0"/>
                <a:cs typeface="Cascadia Code" panose="020B0609020000020004" pitchFamily="49" charset="0"/>
              </a:rPr>
              <a:t>websocket</a:t>
            </a:r>
            <a:r>
              <a:rPr lang="en-IN" sz="1200" b="1" dirty="0">
                <a:latin typeface="Cascadia Code" panose="020B0609020000020004" pitchFamily="49" charset="0"/>
                <a:ea typeface="Cascadia Code" panose="020B0609020000020004" pitchFamily="49" charset="0"/>
                <a:cs typeface="Cascadia Code" panose="020B0609020000020004" pitchFamily="49" charset="0"/>
              </a:rPr>
              <a:t>/</a:t>
            </a:r>
          </a:p>
          <a:p>
            <a:pPr>
              <a:buNone/>
            </a:pPr>
            <a:endParaRPr lang="en-IN" sz="1200" b="1" dirty="0">
              <a:latin typeface="Cascadia Code" panose="020B0609020000020004" pitchFamily="49" charset="0"/>
              <a:ea typeface="Cascadia Code" panose="020B0609020000020004" pitchFamily="49" charset="0"/>
              <a:cs typeface="Cascadia Code" panose="020B0609020000020004" pitchFamily="49" charset="0"/>
            </a:endParaRPr>
          </a:p>
          <a:p>
            <a:pPr>
              <a:buNone/>
            </a:pPr>
            <a:r>
              <a:rPr lang="en-IN" sz="1200" b="1" dirty="0">
                <a:latin typeface="Cascadia Code" panose="020B0609020000020004" pitchFamily="49" charset="0"/>
                <a:ea typeface="Cascadia Code" panose="020B0609020000020004" pitchFamily="49" charset="0"/>
                <a:cs typeface="Cascadia Code" panose="020B0609020000020004" pitchFamily="49" charset="0"/>
              </a:rPr>
              <a:t>             middleware/</a:t>
            </a:r>
          </a:p>
          <a:p>
            <a:pPr>
              <a:buNone/>
            </a:pPr>
            <a:r>
              <a:rPr lang="en-IN" sz="1200" b="1" dirty="0">
                <a:latin typeface="Cascadia Code" panose="020B0609020000020004" pitchFamily="49" charset="0"/>
                <a:ea typeface="Cascadia Code" panose="020B0609020000020004" pitchFamily="49" charset="0"/>
                <a:cs typeface="Cascadia Code" panose="020B0609020000020004" pitchFamily="49" charset="0"/>
              </a:rPr>
              <a:t>             routes/</a:t>
            </a:r>
          </a:p>
          <a:p>
            <a:pPr>
              <a:buNone/>
            </a:pPr>
            <a:r>
              <a:rPr lang="en-IN" sz="1200" b="1" dirty="0">
                <a:latin typeface="Cascadia Code" panose="020B0609020000020004" pitchFamily="49" charset="0"/>
                <a:ea typeface="Cascadia Code" panose="020B0609020000020004" pitchFamily="49" charset="0"/>
                <a:cs typeface="Cascadia Code" panose="020B0609020000020004" pitchFamily="49" charset="0"/>
              </a:rPr>
              <a:t>             </a:t>
            </a:r>
            <a:r>
              <a:rPr lang="en-IN" sz="1200" b="1" dirty="0" err="1">
                <a:latin typeface="Cascadia Code" panose="020B0609020000020004" pitchFamily="49" charset="0"/>
                <a:ea typeface="Cascadia Code" panose="020B0609020000020004" pitchFamily="49" charset="0"/>
                <a:cs typeface="Cascadia Code" panose="020B0609020000020004" pitchFamily="49" charset="0"/>
              </a:rPr>
              <a:t>prisma</a:t>
            </a:r>
            <a:r>
              <a:rPr lang="en-IN" sz="1200" b="1" dirty="0">
                <a:latin typeface="Cascadia Code" panose="020B0609020000020004" pitchFamily="49" charset="0"/>
                <a:ea typeface="Cascadia Code" panose="020B0609020000020004" pitchFamily="49" charset="0"/>
                <a:cs typeface="Cascadia Code" panose="020B0609020000020004" pitchFamily="49" charset="0"/>
              </a:rPr>
              <a:t>/</a:t>
            </a:r>
          </a:p>
          <a:p>
            <a:pPr>
              <a:buNone/>
            </a:pPr>
            <a:r>
              <a:rPr lang="en-IN" sz="1200" b="1" dirty="0">
                <a:latin typeface="Cascadia Code" panose="020B0609020000020004" pitchFamily="49" charset="0"/>
                <a:ea typeface="Cascadia Code" panose="020B0609020000020004" pitchFamily="49" charset="0"/>
                <a:cs typeface="Cascadia Code" panose="020B0609020000020004" pitchFamily="49" charset="0"/>
              </a:rPr>
              <a:t>             utils/</a:t>
            </a:r>
          </a:p>
          <a:p>
            <a:pPr>
              <a:buNone/>
            </a:pPr>
            <a:r>
              <a:rPr lang="en-IN" sz="1200" b="1" dirty="0">
                <a:latin typeface="Cascadia Code" panose="020B0609020000020004" pitchFamily="49" charset="0"/>
                <a:ea typeface="Cascadia Code" panose="020B0609020000020004" pitchFamily="49" charset="0"/>
                <a:cs typeface="Cascadia Code" panose="020B0609020000020004" pitchFamily="49" charset="0"/>
              </a:rPr>
              <a:t>             </a:t>
            </a:r>
            <a:r>
              <a:rPr lang="en-IN" sz="1200" b="1" dirty="0" err="1">
                <a:latin typeface="Cascadia Code" panose="020B0609020000020004" pitchFamily="49" charset="0"/>
                <a:ea typeface="Cascadia Code" panose="020B0609020000020004" pitchFamily="49" charset="0"/>
                <a:cs typeface="Cascadia Code" panose="020B0609020000020004" pitchFamily="49" charset="0"/>
              </a:rPr>
              <a:t>app.ts</a:t>
            </a:r>
            <a:endParaRPr lang="en-IN" sz="1200" b="1" dirty="0">
              <a:latin typeface="Cascadia Code" panose="020B0609020000020004" pitchFamily="49" charset="0"/>
              <a:ea typeface="Cascadia Code" panose="020B0609020000020004" pitchFamily="49" charset="0"/>
              <a:cs typeface="Cascadia Code" panose="020B0609020000020004" pitchFamily="49" charset="0"/>
            </a:endParaRPr>
          </a:p>
          <a:p>
            <a:pPr>
              <a:buNone/>
            </a:pPr>
            <a:r>
              <a:rPr lang="en-IN" sz="1200" b="1" dirty="0">
                <a:latin typeface="Cascadia Code" panose="020B0609020000020004" pitchFamily="49" charset="0"/>
                <a:ea typeface="Cascadia Code" panose="020B0609020000020004" pitchFamily="49" charset="0"/>
                <a:cs typeface="Cascadia Code" panose="020B0609020000020004" pitchFamily="49" charset="0"/>
              </a:rPr>
              <a:t>             </a:t>
            </a:r>
            <a:r>
              <a:rPr lang="en-IN" sz="1200" b="1" dirty="0" err="1">
                <a:latin typeface="Cascadia Code" panose="020B0609020000020004" pitchFamily="49" charset="0"/>
                <a:ea typeface="Cascadia Code" panose="020B0609020000020004" pitchFamily="49" charset="0"/>
                <a:cs typeface="Cascadia Code" panose="020B0609020000020004" pitchFamily="49" charset="0"/>
              </a:rPr>
              <a:t>server.ts</a:t>
            </a:r>
            <a:endParaRPr lang="en-IN" sz="1400" dirty="0">
              <a:latin typeface="Cascadia Code" panose="020B0609020000020004" pitchFamily="49" charset="0"/>
              <a:ea typeface="Cascadia Code" panose="020B0609020000020004" pitchFamily="49" charset="0"/>
              <a:cs typeface="Cascadia Code" panose="020B0609020000020004" pitchFamily="49" charset="0"/>
            </a:endParaRPr>
          </a:p>
        </p:txBody>
      </p:sp>
      <p:sp>
        <p:nvSpPr>
          <p:cNvPr id="15" name="Rectangle: Top Corners Rounded 14">
            <a:extLst>
              <a:ext uri="{FF2B5EF4-FFF2-40B4-BE49-F238E27FC236}">
                <a16:creationId xmlns:a16="http://schemas.microsoft.com/office/drawing/2014/main" id="{63AAAE91-CA3A-B791-EC65-DDBF98E28E4C}"/>
              </a:ext>
            </a:extLst>
          </p:cNvPr>
          <p:cNvSpPr/>
          <p:nvPr/>
        </p:nvSpPr>
        <p:spPr>
          <a:xfrm>
            <a:off x="1269388" y="1327051"/>
            <a:ext cx="1441939" cy="369332"/>
          </a:xfrm>
          <a:prstGeom prst="round2Same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152C4689-5292-9A51-B284-5B8D4CAC4A32}"/>
              </a:ext>
            </a:extLst>
          </p:cNvPr>
          <p:cNvSpPr txBox="1"/>
          <p:nvPr/>
        </p:nvSpPr>
        <p:spPr>
          <a:xfrm>
            <a:off x="1430948" y="1352840"/>
            <a:ext cx="1356214" cy="369332"/>
          </a:xfrm>
          <a:prstGeom prst="rect">
            <a:avLst/>
          </a:prstGeom>
          <a:noFill/>
        </p:spPr>
        <p:txBody>
          <a:bodyPr wrap="square">
            <a:spAutoFit/>
          </a:bodyPr>
          <a:lstStyle/>
          <a:p>
            <a:pPr>
              <a:buNone/>
            </a:pPr>
            <a:r>
              <a:rPr lang="en-US" sz="1800" b="1" dirty="0">
                <a:latin typeface="Abadi" panose="020B0604020104020204" pitchFamily="34" charset="0"/>
              </a:rPr>
              <a:t>backend</a:t>
            </a:r>
            <a:endParaRPr lang="en-IN" sz="1800" b="1" dirty="0">
              <a:latin typeface="Abadi" panose="020B0604020104020204" pitchFamily="34" charset="0"/>
            </a:endParaRPr>
          </a:p>
        </p:txBody>
      </p:sp>
      <p:sp>
        <p:nvSpPr>
          <p:cNvPr id="3" name="Rectangle: Rounded Corners 2">
            <a:extLst>
              <a:ext uri="{FF2B5EF4-FFF2-40B4-BE49-F238E27FC236}">
                <a16:creationId xmlns:a16="http://schemas.microsoft.com/office/drawing/2014/main" id="{AE84C973-9E44-37A0-48D7-0704DC3330FA}"/>
              </a:ext>
            </a:extLst>
          </p:cNvPr>
          <p:cNvSpPr/>
          <p:nvPr/>
        </p:nvSpPr>
        <p:spPr>
          <a:xfrm>
            <a:off x="3891297" y="1655354"/>
            <a:ext cx="2909455" cy="3009838"/>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23A9AF24-A35C-B065-A819-F035AF326263}"/>
              </a:ext>
            </a:extLst>
          </p:cNvPr>
          <p:cNvSpPr txBox="1"/>
          <p:nvPr/>
        </p:nvSpPr>
        <p:spPr>
          <a:xfrm>
            <a:off x="4104951" y="1730932"/>
            <a:ext cx="3289034" cy="2462213"/>
          </a:xfrm>
          <a:prstGeom prst="rect">
            <a:avLst/>
          </a:prstGeom>
          <a:noFill/>
        </p:spPr>
        <p:txBody>
          <a:bodyPr wrap="square">
            <a:spAutoFit/>
          </a:bodyPr>
          <a:lstStyle/>
          <a:p>
            <a:pPr>
              <a:buNone/>
            </a:pPr>
            <a:r>
              <a:rPr lang="en-IN" sz="1400" b="1" dirty="0">
                <a:latin typeface="Cascadia Code" panose="020B0609020000020004" pitchFamily="49" charset="0"/>
                <a:ea typeface="Cascadia Code" panose="020B0609020000020004" pitchFamily="49" charset="0"/>
                <a:cs typeface="Cascadia Code" panose="020B0609020000020004" pitchFamily="49" charset="0"/>
              </a:rPr>
              <a:t>app/</a:t>
            </a:r>
          </a:p>
          <a:p>
            <a:pPr>
              <a:buNone/>
            </a:pPr>
            <a:endParaRPr lang="en-IN" sz="1400" b="1" dirty="0">
              <a:latin typeface="Cascadia Code" panose="020B0609020000020004" pitchFamily="49" charset="0"/>
              <a:ea typeface="Cascadia Code" panose="020B0609020000020004" pitchFamily="49" charset="0"/>
              <a:cs typeface="Cascadia Code" panose="020B0609020000020004" pitchFamily="49" charset="0"/>
            </a:endParaRPr>
          </a:p>
          <a:p>
            <a:pPr>
              <a:buNone/>
            </a:pPr>
            <a:r>
              <a:rPr lang="en-IN" sz="1400" b="1" dirty="0">
                <a:latin typeface="Cascadia Code" panose="020B0609020000020004" pitchFamily="49" charset="0"/>
                <a:ea typeface="Cascadia Code" panose="020B0609020000020004" pitchFamily="49" charset="0"/>
                <a:cs typeface="Cascadia Code" panose="020B0609020000020004" pitchFamily="49" charset="0"/>
              </a:rPr>
              <a:t>   components/</a:t>
            </a:r>
          </a:p>
          <a:p>
            <a:pPr>
              <a:buNone/>
            </a:pPr>
            <a:r>
              <a:rPr lang="en-IN" sz="1400" b="1" dirty="0">
                <a:latin typeface="Cascadia Code" panose="020B0609020000020004" pitchFamily="49" charset="0"/>
                <a:ea typeface="Cascadia Code" panose="020B0609020000020004" pitchFamily="49" charset="0"/>
                <a:cs typeface="Cascadia Code" panose="020B0609020000020004" pitchFamily="49" charset="0"/>
              </a:rPr>
              <a:t>       </a:t>
            </a:r>
            <a:r>
              <a:rPr lang="en-IN" sz="1400" b="1" dirty="0" err="1">
                <a:latin typeface="Cascadia Code" panose="020B0609020000020004" pitchFamily="49" charset="0"/>
                <a:ea typeface="Cascadia Code" panose="020B0609020000020004" pitchFamily="49" charset="0"/>
                <a:cs typeface="Cascadia Code" panose="020B0609020000020004" pitchFamily="49" charset="0"/>
              </a:rPr>
              <a:t>ChatWindow</a:t>
            </a:r>
            <a:endParaRPr lang="en-IN" sz="1400" b="1" dirty="0">
              <a:latin typeface="Cascadia Code" panose="020B0609020000020004" pitchFamily="49" charset="0"/>
              <a:ea typeface="Cascadia Code" panose="020B0609020000020004" pitchFamily="49" charset="0"/>
              <a:cs typeface="Cascadia Code" panose="020B0609020000020004" pitchFamily="49" charset="0"/>
            </a:endParaRPr>
          </a:p>
          <a:p>
            <a:pPr>
              <a:buNone/>
            </a:pPr>
            <a:r>
              <a:rPr lang="en-IN" sz="1400" b="1" dirty="0">
                <a:latin typeface="Cascadia Code" panose="020B0609020000020004" pitchFamily="49" charset="0"/>
                <a:ea typeface="Cascadia Code" panose="020B0609020000020004" pitchFamily="49" charset="0"/>
                <a:cs typeface="Cascadia Code" panose="020B0609020000020004" pitchFamily="49" charset="0"/>
              </a:rPr>
              <a:t>       </a:t>
            </a:r>
            <a:r>
              <a:rPr lang="en-IN" sz="1400" b="1" dirty="0" err="1">
                <a:latin typeface="Cascadia Code" panose="020B0609020000020004" pitchFamily="49" charset="0"/>
                <a:ea typeface="Cascadia Code" panose="020B0609020000020004" pitchFamily="49" charset="0"/>
                <a:cs typeface="Cascadia Code" panose="020B0609020000020004" pitchFamily="49" charset="0"/>
              </a:rPr>
              <a:t>MessageBubble</a:t>
            </a:r>
            <a:endParaRPr lang="en-IN" sz="1400" b="1" dirty="0">
              <a:latin typeface="Cascadia Code" panose="020B0609020000020004" pitchFamily="49" charset="0"/>
              <a:ea typeface="Cascadia Code" panose="020B0609020000020004" pitchFamily="49" charset="0"/>
              <a:cs typeface="Cascadia Code" panose="020B0609020000020004" pitchFamily="49" charset="0"/>
            </a:endParaRPr>
          </a:p>
          <a:p>
            <a:pPr>
              <a:buNone/>
            </a:pPr>
            <a:r>
              <a:rPr lang="en-IN" sz="1400" b="1" dirty="0">
                <a:latin typeface="Cascadia Code" panose="020B0609020000020004" pitchFamily="49" charset="0"/>
                <a:ea typeface="Cascadia Code" panose="020B0609020000020004" pitchFamily="49" charset="0"/>
                <a:cs typeface="Cascadia Code" panose="020B0609020000020004" pitchFamily="49" charset="0"/>
              </a:rPr>
              <a:t>       </a:t>
            </a:r>
            <a:r>
              <a:rPr lang="en-IN" sz="1400" b="1" dirty="0" err="1">
                <a:latin typeface="Cascadia Code" panose="020B0609020000020004" pitchFamily="49" charset="0"/>
                <a:ea typeface="Cascadia Code" panose="020B0609020000020004" pitchFamily="49" charset="0"/>
                <a:cs typeface="Cascadia Code" panose="020B0609020000020004" pitchFamily="49" charset="0"/>
              </a:rPr>
              <a:t>UsernameModal</a:t>
            </a:r>
            <a:endParaRPr lang="en-IN" sz="1400" b="1" dirty="0">
              <a:latin typeface="Cascadia Code" panose="020B0609020000020004" pitchFamily="49" charset="0"/>
              <a:ea typeface="Cascadia Code" panose="020B0609020000020004" pitchFamily="49" charset="0"/>
              <a:cs typeface="Cascadia Code" panose="020B0609020000020004" pitchFamily="49" charset="0"/>
            </a:endParaRPr>
          </a:p>
          <a:p>
            <a:pPr>
              <a:buNone/>
            </a:pPr>
            <a:r>
              <a:rPr lang="en-IN" sz="1400" b="1" dirty="0">
                <a:latin typeface="Cascadia Code" panose="020B0609020000020004" pitchFamily="49" charset="0"/>
                <a:ea typeface="Cascadia Code" panose="020B0609020000020004" pitchFamily="49" charset="0"/>
                <a:cs typeface="Cascadia Code" panose="020B0609020000020004" pitchFamily="49" charset="0"/>
              </a:rPr>
              <a:t>       </a:t>
            </a:r>
            <a:r>
              <a:rPr lang="en-IN" sz="1400" b="1" dirty="0" err="1">
                <a:latin typeface="Cascadia Code" panose="020B0609020000020004" pitchFamily="49" charset="0"/>
                <a:ea typeface="Cascadia Code" panose="020B0609020000020004" pitchFamily="49" charset="0"/>
                <a:cs typeface="Cascadia Code" panose="020B0609020000020004" pitchFamily="49" charset="0"/>
              </a:rPr>
              <a:t>MessageInput</a:t>
            </a:r>
            <a:endParaRPr lang="en-IN" sz="1400" b="1" dirty="0">
              <a:latin typeface="Cascadia Code" panose="020B0609020000020004" pitchFamily="49" charset="0"/>
              <a:ea typeface="Cascadia Code" panose="020B0609020000020004" pitchFamily="49" charset="0"/>
              <a:cs typeface="Cascadia Code" panose="020B0609020000020004" pitchFamily="49" charset="0"/>
            </a:endParaRPr>
          </a:p>
          <a:p>
            <a:pPr>
              <a:buNone/>
            </a:pPr>
            <a:endParaRPr lang="en-IN" sz="1400" b="1" dirty="0">
              <a:latin typeface="Cascadia Code" panose="020B0609020000020004" pitchFamily="49" charset="0"/>
              <a:ea typeface="Cascadia Code" panose="020B0609020000020004" pitchFamily="49" charset="0"/>
              <a:cs typeface="Cascadia Code" panose="020B0609020000020004" pitchFamily="49" charset="0"/>
            </a:endParaRPr>
          </a:p>
          <a:p>
            <a:pPr>
              <a:buNone/>
            </a:pPr>
            <a:r>
              <a:rPr lang="en-IN" sz="1400" b="1" dirty="0">
                <a:latin typeface="Cascadia Code" panose="020B0609020000020004" pitchFamily="49" charset="0"/>
                <a:ea typeface="Cascadia Code" panose="020B0609020000020004" pitchFamily="49" charset="0"/>
                <a:cs typeface="Cascadia Code" panose="020B0609020000020004" pitchFamily="49" charset="0"/>
              </a:rPr>
              <a:t>   hooks/</a:t>
            </a:r>
          </a:p>
          <a:p>
            <a:pPr>
              <a:buNone/>
            </a:pPr>
            <a:r>
              <a:rPr lang="en-IN" sz="1400" b="1" dirty="0">
                <a:latin typeface="Cascadia Code" panose="020B0609020000020004" pitchFamily="49" charset="0"/>
                <a:ea typeface="Cascadia Code" panose="020B0609020000020004" pitchFamily="49" charset="0"/>
                <a:cs typeface="Cascadia Code" panose="020B0609020000020004" pitchFamily="49" charset="0"/>
              </a:rPr>
              <a:t>   lib/</a:t>
            </a:r>
          </a:p>
          <a:p>
            <a:pPr>
              <a:buNone/>
            </a:pPr>
            <a:r>
              <a:rPr lang="en-IN" sz="1400" b="1" dirty="0">
                <a:latin typeface="Cascadia Code" panose="020B0609020000020004" pitchFamily="49" charset="0"/>
                <a:ea typeface="Cascadia Code" panose="020B0609020000020004" pitchFamily="49" charset="0"/>
                <a:cs typeface="Cascadia Code" panose="020B0609020000020004" pitchFamily="49" charset="0"/>
              </a:rPr>
              <a:t>   services/</a:t>
            </a:r>
            <a:endParaRPr lang="en-IN" sz="1600" dirty="0">
              <a:latin typeface="Cascadia Code" panose="020B0609020000020004" pitchFamily="49" charset="0"/>
              <a:ea typeface="Cascadia Code" panose="020B0609020000020004" pitchFamily="49" charset="0"/>
              <a:cs typeface="Cascadia Code" panose="020B0609020000020004" pitchFamily="49" charset="0"/>
            </a:endParaRPr>
          </a:p>
        </p:txBody>
      </p:sp>
      <p:sp>
        <p:nvSpPr>
          <p:cNvPr id="10" name="Rectangle: Top Corners Rounded 9">
            <a:extLst>
              <a:ext uri="{FF2B5EF4-FFF2-40B4-BE49-F238E27FC236}">
                <a16:creationId xmlns:a16="http://schemas.microsoft.com/office/drawing/2014/main" id="{F7ADC084-8D54-95E5-F6DA-6486D1DE5A09}"/>
              </a:ext>
            </a:extLst>
          </p:cNvPr>
          <p:cNvSpPr/>
          <p:nvPr/>
        </p:nvSpPr>
        <p:spPr>
          <a:xfrm>
            <a:off x="4617390" y="1286022"/>
            <a:ext cx="1310854" cy="369332"/>
          </a:xfrm>
          <a:prstGeom prst="round2Same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FCBE455F-CA9F-35EE-0071-7ABA21C353F7}"/>
              </a:ext>
            </a:extLst>
          </p:cNvPr>
          <p:cNvSpPr txBox="1"/>
          <p:nvPr/>
        </p:nvSpPr>
        <p:spPr>
          <a:xfrm>
            <a:off x="4775054" y="1311811"/>
            <a:ext cx="1232922" cy="369332"/>
          </a:xfrm>
          <a:prstGeom prst="rect">
            <a:avLst/>
          </a:prstGeom>
          <a:noFill/>
        </p:spPr>
        <p:txBody>
          <a:bodyPr wrap="square">
            <a:spAutoFit/>
          </a:bodyPr>
          <a:lstStyle/>
          <a:p>
            <a:pPr>
              <a:buNone/>
            </a:pPr>
            <a:r>
              <a:rPr lang="en-US" b="1" dirty="0">
                <a:latin typeface="Abadi" panose="020B0604020104020204" pitchFamily="34" charset="0"/>
              </a:rPr>
              <a:t>frontend</a:t>
            </a:r>
            <a:endParaRPr lang="en-IN" sz="1800" b="1" dirty="0">
              <a:latin typeface="Abadi" panose="020B0604020104020204" pitchFamily="34" charset="0"/>
            </a:endParaRPr>
          </a:p>
        </p:txBody>
      </p:sp>
      <p:sp>
        <p:nvSpPr>
          <p:cNvPr id="18" name="Rectangle: Rounded Corners 17">
            <a:extLst>
              <a:ext uri="{FF2B5EF4-FFF2-40B4-BE49-F238E27FC236}">
                <a16:creationId xmlns:a16="http://schemas.microsoft.com/office/drawing/2014/main" id="{0A5799AD-ABC0-6199-B98E-62F3739AEE1A}"/>
              </a:ext>
            </a:extLst>
          </p:cNvPr>
          <p:cNvSpPr/>
          <p:nvPr/>
        </p:nvSpPr>
        <p:spPr>
          <a:xfrm>
            <a:off x="7151070" y="865386"/>
            <a:ext cx="4067913" cy="3453593"/>
          </a:xfrm>
          <a:prstGeom prst="roundRect">
            <a:avLst>
              <a:gd name="adj" fmla="val 6857"/>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Top Corners Rounded 21">
            <a:extLst>
              <a:ext uri="{FF2B5EF4-FFF2-40B4-BE49-F238E27FC236}">
                <a16:creationId xmlns:a16="http://schemas.microsoft.com/office/drawing/2014/main" id="{B7E9E70B-FBDE-1343-4FC6-E976B904EDC3}"/>
              </a:ext>
            </a:extLst>
          </p:cNvPr>
          <p:cNvSpPr/>
          <p:nvPr/>
        </p:nvSpPr>
        <p:spPr>
          <a:xfrm>
            <a:off x="8306160" y="512296"/>
            <a:ext cx="1441939" cy="369332"/>
          </a:xfrm>
          <a:prstGeom prst="round2Same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TextBox 23">
            <a:extLst>
              <a:ext uri="{FF2B5EF4-FFF2-40B4-BE49-F238E27FC236}">
                <a16:creationId xmlns:a16="http://schemas.microsoft.com/office/drawing/2014/main" id="{D2AD8914-0E2E-B5AE-D8B6-0FE391B4C85F}"/>
              </a:ext>
            </a:extLst>
          </p:cNvPr>
          <p:cNvSpPr txBox="1"/>
          <p:nvPr/>
        </p:nvSpPr>
        <p:spPr>
          <a:xfrm>
            <a:off x="8506921" y="538675"/>
            <a:ext cx="1356214" cy="369332"/>
          </a:xfrm>
          <a:prstGeom prst="rect">
            <a:avLst/>
          </a:prstGeom>
          <a:noFill/>
        </p:spPr>
        <p:txBody>
          <a:bodyPr wrap="square">
            <a:spAutoFit/>
          </a:bodyPr>
          <a:lstStyle/>
          <a:p>
            <a:pPr>
              <a:buNone/>
            </a:pPr>
            <a:r>
              <a:rPr lang="en-US" sz="1800" b="1" dirty="0">
                <a:latin typeface="Abadi" panose="020B0604020104020204" pitchFamily="34" charset="0"/>
              </a:rPr>
              <a:t>database</a:t>
            </a:r>
            <a:endParaRPr lang="en-IN" sz="1800" b="1" dirty="0">
              <a:latin typeface="Abadi" panose="020B0604020104020204" pitchFamily="34" charset="0"/>
            </a:endParaRPr>
          </a:p>
        </p:txBody>
      </p:sp>
      <p:pic>
        <p:nvPicPr>
          <p:cNvPr id="26" name="Picture 25">
            <a:extLst>
              <a:ext uri="{FF2B5EF4-FFF2-40B4-BE49-F238E27FC236}">
                <a16:creationId xmlns:a16="http://schemas.microsoft.com/office/drawing/2014/main" id="{5AE9C984-0B46-3B8E-C0AD-534B14C66063}"/>
              </a:ext>
            </a:extLst>
          </p:cNvPr>
          <p:cNvPicPr>
            <a:picLocks noChangeAspect="1"/>
          </p:cNvPicPr>
          <p:nvPr/>
        </p:nvPicPr>
        <p:blipFill>
          <a:blip r:embed="rId2"/>
          <a:stretch>
            <a:fillRect/>
          </a:stretch>
        </p:blipFill>
        <p:spPr>
          <a:xfrm>
            <a:off x="7439994" y="1042012"/>
            <a:ext cx="3558848" cy="2324301"/>
          </a:xfrm>
          <a:prstGeom prst="rect">
            <a:avLst/>
          </a:prstGeom>
        </p:spPr>
      </p:pic>
      <p:sp>
        <p:nvSpPr>
          <p:cNvPr id="28" name="TextBox 27">
            <a:extLst>
              <a:ext uri="{FF2B5EF4-FFF2-40B4-BE49-F238E27FC236}">
                <a16:creationId xmlns:a16="http://schemas.microsoft.com/office/drawing/2014/main" id="{D300A21B-4528-025A-8471-BA0524FB224A}"/>
              </a:ext>
            </a:extLst>
          </p:cNvPr>
          <p:cNvSpPr txBox="1"/>
          <p:nvPr/>
        </p:nvSpPr>
        <p:spPr>
          <a:xfrm>
            <a:off x="7920099" y="3500318"/>
            <a:ext cx="2743563" cy="646331"/>
          </a:xfrm>
          <a:prstGeom prst="rect">
            <a:avLst/>
          </a:prstGeom>
          <a:noFill/>
        </p:spPr>
        <p:txBody>
          <a:bodyPr wrap="square">
            <a:spAutoFit/>
          </a:bodyPr>
          <a:lstStyle/>
          <a:p>
            <a:r>
              <a:rPr lang="en-IN" dirty="0"/>
              <a:t>Users </a:t>
            </a:r>
            <a:br>
              <a:rPr lang="en-IN" dirty="0"/>
            </a:br>
            <a:r>
              <a:rPr lang="en-IN" dirty="0"/>
              <a:t>id -&gt; </a:t>
            </a:r>
            <a:r>
              <a:rPr lang="en-IN" dirty="0" err="1"/>
              <a:t>Messages.sender_id</a:t>
            </a:r>
            <a:endParaRPr lang="en-IN" dirty="0"/>
          </a:p>
        </p:txBody>
      </p:sp>
      <p:sp>
        <p:nvSpPr>
          <p:cNvPr id="32" name="Rectangle: Rounded Corners 31">
            <a:extLst>
              <a:ext uri="{FF2B5EF4-FFF2-40B4-BE49-F238E27FC236}">
                <a16:creationId xmlns:a16="http://schemas.microsoft.com/office/drawing/2014/main" id="{EAB55446-D03A-61E0-55D8-229F301FB60D}"/>
              </a:ext>
            </a:extLst>
          </p:cNvPr>
          <p:cNvSpPr/>
          <p:nvPr/>
        </p:nvSpPr>
        <p:spPr>
          <a:xfrm>
            <a:off x="8159849" y="5023463"/>
            <a:ext cx="2206283" cy="1585049"/>
          </a:xfrm>
          <a:prstGeom prst="roundRect">
            <a:avLst>
              <a:gd name="adj" fmla="val 6857"/>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Rectangle: Top Corners Rounded 33">
            <a:extLst>
              <a:ext uri="{FF2B5EF4-FFF2-40B4-BE49-F238E27FC236}">
                <a16:creationId xmlns:a16="http://schemas.microsoft.com/office/drawing/2014/main" id="{7D44DAA4-3350-4388-356A-79C7C1E8FF22}"/>
              </a:ext>
            </a:extLst>
          </p:cNvPr>
          <p:cNvSpPr/>
          <p:nvPr/>
        </p:nvSpPr>
        <p:spPr>
          <a:xfrm>
            <a:off x="8458560" y="4665192"/>
            <a:ext cx="1695589" cy="369332"/>
          </a:xfrm>
          <a:prstGeom prst="round2Same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TextBox 35">
            <a:extLst>
              <a:ext uri="{FF2B5EF4-FFF2-40B4-BE49-F238E27FC236}">
                <a16:creationId xmlns:a16="http://schemas.microsoft.com/office/drawing/2014/main" id="{5F2CB387-979E-F618-389A-A39818594978}"/>
              </a:ext>
            </a:extLst>
          </p:cNvPr>
          <p:cNvSpPr txBox="1"/>
          <p:nvPr/>
        </p:nvSpPr>
        <p:spPr>
          <a:xfrm>
            <a:off x="8506921" y="4672069"/>
            <a:ext cx="1731907" cy="369332"/>
          </a:xfrm>
          <a:prstGeom prst="rect">
            <a:avLst/>
          </a:prstGeom>
          <a:noFill/>
        </p:spPr>
        <p:txBody>
          <a:bodyPr wrap="square">
            <a:spAutoFit/>
          </a:bodyPr>
          <a:lstStyle/>
          <a:p>
            <a:pPr>
              <a:buNone/>
            </a:pPr>
            <a:r>
              <a:rPr lang="en-US" sz="1800" b="1" dirty="0">
                <a:latin typeface="Abadi" panose="020B0604020104020204" pitchFamily="34" charset="0"/>
              </a:rPr>
              <a:t>API Endpoints</a:t>
            </a:r>
            <a:endParaRPr lang="en-IN" sz="1800" b="1" dirty="0">
              <a:latin typeface="Abadi" panose="020B0604020104020204" pitchFamily="34" charset="0"/>
            </a:endParaRPr>
          </a:p>
        </p:txBody>
      </p:sp>
      <p:sp>
        <p:nvSpPr>
          <p:cNvPr id="38" name="TextBox 37">
            <a:extLst>
              <a:ext uri="{FF2B5EF4-FFF2-40B4-BE49-F238E27FC236}">
                <a16:creationId xmlns:a16="http://schemas.microsoft.com/office/drawing/2014/main" id="{6A914DEB-D943-90F1-6B51-4BC1A1C5CB96}"/>
              </a:ext>
            </a:extLst>
          </p:cNvPr>
          <p:cNvSpPr txBox="1"/>
          <p:nvPr/>
        </p:nvSpPr>
        <p:spPr>
          <a:xfrm>
            <a:off x="8340614" y="5175786"/>
            <a:ext cx="3289034" cy="1323439"/>
          </a:xfrm>
          <a:prstGeom prst="rect">
            <a:avLst/>
          </a:prstGeom>
          <a:noFill/>
        </p:spPr>
        <p:txBody>
          <a:bodyPr wrap="square">
            <a:spAutoFit/>
          </a:bodyPr>
          <a:lstStyle/>
          <a:p>
            <a:pPr>
              <a:buNone/>
            </a:pPr>
            <a:r>
              <a:rPr lang="en-US" sz="1600" b="1" dirty="0">
                <a:latin typeface="Cascadia Code" panose="020B0609020000020004" pitchFamily="49" charset="0"/>
                <a:ea typeface="Cascadia Code" panose="020B0609020000020004" pitchFamily="49" charset="0"/>
                <a:cs typeface="Cascadia Code" panose="020B0609020000020004" pitchFamily="49" charset="0"/>
              </a:rPr>
              <a:t>POST /join</a:t>
            </a:r>
          </a:p>
          <a:p>
            <a:pPr>
              <a:buNone/>
            </a:pPr>
            <a:endParaRPr lang="en-US" sz="1600" b="1" dirty="0">
              <a:latin typeface="Cascadia Code" panose="020B0609020000020004" pitchFamily="49" charset="0"/>
              <a:ea typeface="Cascadia Code" panose="020B0609020000020004" pitchFamily="49" charset="0"/>
              <a:cs typeface="Cascadia Code" panose="020B0609020000020004" pitchFamily="49" charset="0"/>
            </a:endParaRPr>
          </a:p>
          <a:p>
            <a:pPr>
              <a:buNone/>
            </a:pPr>
            <a:r>
              <a:rPr lang="en-US" sz="1600" b="1" dirty="0">
                <a:latin typeface="Cascadia Code" panose="020B0609020000020004" pitchFamily="49" charset="0"/>
                <a:ea typeface="Cascadia Code" panose="020B0609020000020004" pitchFamily="49" charset="0"/>
                <a:cs typeface="Cascadia Code" panose="020B0609020000020004" pitchFamily="49" charset="0"/>
              </a:rPr>
              <a:t>POST /leave</a:t>
            </a:r>
          </a:p>
          <a:p>
            <a:pPr>
              <a:buNone/>
            </a:pPr>
            <a:endParaRPr lang="en-US" sz="1600" b="1" dirty="0">
              <a:latin typeface="Cascadia Code" panose="020B0609020000020004" pitchFamily="49" charset="0"/>
              <a:ea typeface="Cascadia Code" panose="020B0609020000020004" pitchFamily="49" charset="0"/>
              <a:cs typeface="Cascadia Code" panose="020B0609020000020004" pitchFamily="49" charset="0"/>
            </a:endParaRPr>
          </a:p>
          <a:p>
            <a:pPr>
              <a:buNone/>
            </a:pPr>
            <a:r>
              <a:rPr lang="en-US" sz="1600" b="1" dirty="0">
                <a:latin typeface="Cascadia Code" panose="020B0609020000020004" pitchFamily="49" charset="0"/>
                <a:ea typeface="Cascadia Code" panose="020B0609020000020004" pitchFamily="49" charset="0"/>
                <a:cs typeface="Cascadia Code" panose="020B0609020000020004" pitchFamily="49" charset="0"/>
              </a:rPr>
              <a:t>GET /messages</a:t>
            </a:r>
            <a:endParaRPr lang="en-IN" dirty="0">
              <a:latin typeface="Cascadia Code" panose="020B0609020000020004" pitchFamily="49" charset="0"/>
              <a:ea typeface="Cascadia Code" panose="020B0609020000020004" pitchFamily="49" charset="0"/>
              <a:cs typeface="Cascadia Code" panose="020B0609020000020004" pitchFamily="49" charset="0"/>
            </a:endParaRPr>
          </a:p>
        </p:txBody>
      </p:sp>
      <p:sp>
        <p:nvSpPr>
          <p:cNvPr id="40" name="Rectangle: Rounded Corners 39">
            <a:extLst>
              <a:ext uri="{FF2B5EF4-FFF2-40B4-BE49-F238E27FC236}">
                <a16:creationId xmlns:a16="http://schemas.microsoft.com/office/drawing/2014/main" id="{860E24E9-802C-E814-82B0-6B1680891326}"/>
              </a:ext>
            </a:extLst>
          </p:cNvPr>
          <p:cNvSpPr/>
          <p:nvPr/>
        </p:nvSpPr>
        <p:spPr>
          <a:xfrm>
            <a:off x="552239" y="5225160"/>
            <a:ext cx="6224764" cy="876702"/>
          </a:xfrm>
          <a:prstGeom prst="roundRect">
            <a:avLst>
              <a:gd name="adj" fmla="val 6857"/>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Rectangle: Top Corners Rounded 41">
            <a:extLst>
              <a:ext uri="{FF2B5EF4-FFF2-40B4-BE49-F238E27FC236}">
                <a16:creationId xmlns:a16="http://schemas.microsoft.com/office/drawing/2014/main" id="{3BAAF44A-2B35-407B-5481-0D0876A9D465}"/>
              </a:ext>
            </a:extLst>
          </p:cNvPr>
          <p:cNvSpPr/>
          <p:nvPr/>
        </p:nvSpPr>
        <p:spPr>
          <a:xfrm>
            <a:off x="2614613" y="4775516"/>
            <a:ext cx="2206283" cy="449643"/>
          </a:xfrm>
          <a:prstGeom prst="round2Same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4" name="TextBox 43">
            <a:extLst>
              <a:ext uri="{FF2B5EF4-FFF2-40B4-BE49-F238E27FC236}">
                <a16:creationId xmlns:a16="http://schemas.microsoft.com/office/drawing/2014/main" id="{651A804D-A746-EBCC-0BF7-AB199298119E}"/>
              </a:ext>
            </a:extLst>
          </p:cNvPr>
          <p:cNvSpPr txBox="1"/>
          <p:nvPr/>
        </p:nvSpPr>
        <p:spPr>
          <a:xfrm>
            <a:off x="3155804" y="4816517"/>
            <a:ext cx="4895903" cy="369332"/>
          </a:xfrm>
          <a:prstGeom prst="rect">
            <a:avLst/>
          </a:prstGeom>
          <a:noFill/>
        </p:spPr>
        <p:txBody>
          <a:bodyPr wrap="square">
            <a:spAutoFit/>
          </a:bodyPr>
          <a:lstStyle/>
          <a:p>
            <a:pPr>
              <a:buNone/>
            </a:pPr>
            <a:r>
              <a:rPr lang="en-US" sz="1800" b="1" dirty="0">
                <a:latin typeface="Abadi" panose="020B0604020104020204" pitchFamily="34" charset="0"/>
              </a:rPr>
              <a:t>Socket.IO</a:t>
            </a:r>
            <a:endParaRPr lang="en-IN" sz="1800" b="1" dirty="0">
              <a:latin typeface="Abadi" panose="020B0604020104020204" pitchFamily="34" charset="0"/>
            </a:endParaRPr>
          </a:p>
        </p:txBody>
      </p:sp>
      <p:sp>
        <p:nvSpPr>
          <p:cNvPr id="46" name="TextBox 45">
            <a:extLst>
              <a:ext uri="{FF2B5EF4-FFF2-40B4-BE49-F238E27FC236}">
                <a16:creationId xmlns:a16="http://schemas.microsoft.com/office/drawing/2014/main" id="{58B4586F-1119-572F-27DC-9B05AFDCC4CC}"/>
              </a:ext>
            </a:extLst>
          </p:cNvPr>
          <p:cNvSpPr txBox="1"/>
          <p:nvPr/>
        </p:nvSpPr>
        <p:spPr>
          <a:xfrm>
            <a:off x="650631" y="5264470"/>
            <a:ext cx="6057899" cy="738664"/>
          </a:xfrm>
          <a:prstGeom prst="rect">
            <a:avLst/>
          </a:prstGeom>
          <a:noFill/>
        </p:spPr>
        <p:txBody>
          <a:bodyPr wrap="square">
            <a:spAutoFit/>
          </a:bodyPr>
          <a:lstStyle/>
          <a:p>
            <a:pPr>
              <a:buNone/>
            </a:pPr>
            <a:r>
              <a:rPr lang="en-US" sz="1400" b="1" dirty="0" err="1">
                <a:latin typeface="Cascadia Code" panose="020B0609020000020004" pitchFamily="49" charset="0"/>
                <a:ea typeface="Cascadia Code" panose="020B0609020000020004" pitchFamily="49" charset="0"/>
                <a:cs typeface="Cascadia Code" panose="020B0609020000020004" pitchFamily="49" charset="0"/>
              </a:rPr>
              <a:t>socket.emit</a:t>
            </a:r>
            <a:r>
              <a:rPr lang="en-US" sz="1400" b="1" dirty="0">
                <a:latin typeface="Cascadia Code" panose="020B0609020000020004" pitchFamily="49" charset="0"/>
                <a:ea typeface="Cascadia Code" panose="020B0609020000020004" pitchFamily="49" charset="0"/>
                <a:cs typeface="Cascadia Code" panose="020B0609020000020004" pitchFamily="49" charset="0"/>
              </a:rPr>
              <a:t>("join")</a:t>
            </a:r>
          </a:p>
          <a:p>
            <a:pPr>
              <a:buNone/>
            </a:pPr>
            <a:r>
              <a:rPr lang="en-US" sz="1400" b="1" dirty="0" err="1">
                <a:latin typeface="Cascadia Code" panose="020B0609020000020004" pitchFamily="49" charset="0"/>
                <a:ea typeface="Cascadia Code" panose="020B0609020000020004" pitchFamily="49" charset="0"/>
                <a:cs typeface="Cascadia Code" panose="020B0609020000020004" pitchFamily="49" charset="0"/>
              </a:rPr>
              <a:t>socket.emit</a:t>
            </a:r>
            <a:r>
              <a:rPr lang="en-US" sz="1400" b="1" dirty="0">
                <a:latin typeface="Cascadia Code" panose="020B0609020000020004" pitchFamily="49" charset="0"/>
                <a:ea typeface="Cascadia Code" panose="020B0609020000020004" pitchFamily="49" charset="0"/>
                <a:cs typeface="Cascadia Code" panose="020B0609020000020004" pitchFamily="49" charset="0"/>
              </a:rPr>
              <a:t>("</a:t>
            </a:r>
            <a:r>
              <a:rPr lang="en-US" sz="1400" b="1" dirty="0" err="1">
                <a:latin typeface="Cascadia Code" panose="020B0609020000020004" pitchFamily="49" charset="0"/>
                <a:ea typeface="Cascadia Code" panose="020B0609020000020004" pitchFamily="49" charset="0"/>
                <a:cs typeface="Cascadia Code" panose="020B0609020000020004" pitchFamily="49" charset="0"/>
              </a:rPr>
              <a:t>send_message</a:t>
            </a:r>
            <a:r>
              <a:rPr lang="en-US" sz="1400" b="1" dirty="0">
                <a:latin typeface="Cascadia Code" panose="020B0609020000020004" pitchFamily="49" charset="0"/>
                <a:ea typeface="Cascadia Code" panose="020B0609020000020004" pitchFamily="49" charset="0"/>
                <a:cs typeface="Cascadia Code" panose="020B0609020000020004" pitchFamily="49" charset="0"/>
              </a:rPr>
              <a:t>")</a:t>
            </a:r>
          </a:p>
          <a:p>
            <a:pPr>
              <a:buNone/>
            </a:pPr>
            <a:r>
              <a:rPr lang="en-US" sz="1400" b="1" dirty="0" err="1">
                <a:latin typeface="Cascadia Code" panose="020B0609020000020004" pitchFamily="49" charset="0"/>
                <a:ea typeface="Cascadia Code" panose="020B0609020000020004" pitchFamily="49" charset="0"/>
                <a:cs typeface="Cascadia Code" panose="020B0609020000020004" pitchFamily="49" charset="0"/>
              </a:rPr>
              <a:t>socket.on</a:t>
            </a:r>
            <a:r>
              <a:rPr lang="en-US" sz="1400" b="1" dirty="0">
                <a:latin typeface="Cascadia Code" panose="020B0609020000020004" pitchFamily="49" charset="0"/>
                <a:ea typeface="Cascadia Code" panose="020B0609020000020004" pitchFamily="49" charset="0"/>
                <a:cs typeface="Cascadia Code" panose="020B0609020000020004" pitchFamily="49" charset="0"/>
              </a:rPr>
              <a:t>("</a:t>
            </a:r>
            <a:r>
              <a:rPr lang="en-US" sz="1400" b="1" dirty="0" err="1">
                <a:latin typeface="Cascadia Code" panose="020B0609020000020004" pitchFamily="49" charset="0"/>
                <a:ea typeface="Cascadia Code" panose="020B0609020000020004" pitchFamily="49" charset="0"/>
                <a:cs typeface="Cascadia Code" panose="020B0609020000020004" pitchFamily="49" charset="0"/>
              </a:rPr>
              <a:t>receive_message</a:t>
            </a:r>
            <a:r>
              <a:rPr lang="en-US" sz="1400" b="1" dirty="0">
                <a:latin typeface="Cascadia Code" panose="020B0609020000020004" pitchFamily="49" charset="0"/>
                <a:ea typeface="Cascadia Code" panose="020B0609020000020004" pitchFamily="49" charset="0"/>
                <a:cs typeface="Cascadia Code" panose="020B0609020000020004" pitchFamily="49" charset="0"/>
              </a:rPr>
              <a:t>")</a:t>
            </a:r>
            <a:endParaRPr lang="en-IN" sz="1600" dirty="0">
              <a:latin typeface="Cascadia Code" panose="020B0609020000020004" pitchFamily="49" charset="0"/>
              <a:ea typeface="Cascadia Code" panose="020B0609020000020004" pitchFamily="49" charset="0"/>
              <a:cs typeface="Cascadia Code" panose="020B0609020000020004" pitchFamily="49" charset="0"/>
            </a:endParaRPr>
          </a:p>
        </p:txBody>
      </p:sp>
      <p:sp>
        <p:nvSpPr>
          <p:cNvPr id="48" name="TextBox 47">
            <a:extLst>
              <a:ext uri="{FF2B5EF4-FFF2-40B4-BE49-F238E27FC236}">
                <a16:creationId xmlns:a16="http://schemas.microsoft.com/office/drawing/2014/main" id="{7D1833E2-92D8-656D-6DF5-CEE8D52DDA0E}"/>
              </a:ext>
            </a:extLst>
          </p:cNvPr>
          <p:cNvSpPr txBox="1"/>
          <p:nvPr/>
        </p:nvSpPr>
        <p:spPr>
          <a:xfrm>
            <a:off x="851392" y="6239180"/>
            <a:ext cx="7655529" cy="369332"/>
          </a:xfrm>
          <a:prstGeom prst="rect">
            <a:avLst/>
          </a:prstGeom>
          <a:noFill/>
        </p:spPr>
        <p:txBody>
          <a:bodyPr wrap="square">
            <a:spAutoFit/>
          </a:bodyPr>
          <a:lstStyle/>
          <a:p>
            <a:pPr marL="285750" indent="-285750">
              <a:buFont typeface="Arial" panose="020B0604020202020204" pitchFamily="34" charset="0"/>
              <a:buChar char="•"/>
            </a:pPr>
            <a:r>
              <a:rPr lang="en-IN" dirty="0"/>
              <a:t>Real-time Communication Happens over Socket.IO</a:t>
            </a:r>
          </a:p>
        </p:txBody>
      </p:sp>
    </p:spTree>
    <p:extLst>
      <p:ext uri="{BB962C8B-B14F-4D97-AF65-F5344CB8AC3E}">
        <p14:creationId xmlns:p14="http://schemas.microsoft.com/office/powerpoint/2010/main" val="1154631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213C70-5020-086B-3E2B-056F4BFD171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55EE8FCD-B0F3-C966-864E-54AD1FBE6E65}"/>
              </a:ext>
            </a:extLst>
          </p:cNvPr>
          <p:cNvSpPr txBox="1"/>
          <p:nvPr/>
        </p:nvSpPr>
        <p:spPr>
          <a:xfrm>
            <a:off x="751840" y="680720"/>
            <a:ext cx="6502400" cy="369332"/>
          </a:xfrm>
          <a:prstGeom prst="rect">
            <a:avLst/>
          </a:prstGeom>
          <a:noFill/>
        </p:spPr>
        <p:txBody>
          <a:bodyPr wrap="square" rtlCol="0">
            <a:spAutoFit/>
          </a:bodyPr>
          <a:lstStyle/>
          <a:p>
            <a:r>
              <a:rPr lang="en-US" b="1" dirty="0"/>
              <a:t>Phase 1 : The Flow </a:t>
            </a:r>
            <a:endParaRPr lang="en-IN" dirty="0"/>
          </a:p>
        </p:txBody>
      </p:sp>
      <p:pic>
        <p:nvPicPr>
          <p:cNvPr id="8" name="Picture 7">
            <a:extLst>
              <a:ext uri="{FF2B5EF4-FFF2-40B4-BE49-F238E27FC236}">
                <a16:creationId xmlns:a16="http://schemas.microsoft.com/office/drawing/2014/main" id="{00C47C71-538A-6AC7-614C-7FEE5E4E86DE}"/>
              </a:ext>
            </a:extLst>
          </p:cNvPr>
          <p:cNvPicPr>
            <a:picLocks noChangeAspect="1"/>
          </p:cNvPicPr>
          <p:nvPr/>
        </p:nvPicPr>
        <p:blipFill>
          <a:blip r:embed="rId2"/>
          <a:srcRect b="13533"/>
          <a:stretch>
            <a:fillRect/>
          </a:stretch>
        </p:blipFill>
        <p:spPr>
          <a:xfrm>
            <a:off x="5624512" y="544506"/>
            <a:ext cx="5401042" cy="5768987"/>
          </a:xfrm>
          <a:prstGeom prst="rect">
            <a:avLst/>
          </a:prstGeom>
        </p:spPr>
      </p:pic>
      <mc:AlternateContent xmlns:mc="http://schemas.openxmlformats.org/markup-compatibility/2006">
        <mc:Choice xmlns:p14="http://schemas.microsoft.com/office/powerpoint/2010/main" Requires="p14">
          <p:contentPart p14:bwMode="auto" r:id="rId3">
            <p14:nvContentPartPr>
              <p14:cNvPr id="11" name="Ink 10">
                <a:extLst>
                  <a:ext uri="{FF2B5EF4-FFF2-40B4-BE49-F238E27FC236}">
                    <a16:creationId xmlns:a16="http://schemas.microsoft.com/office/drawing/2014/main" id="{44939704-E11F-7213-9817-2B0464D03897}"/>
                  </a:ext>
                </a:extLst>
              </p14:cNvPr>
              <p14:cNvContentPartPr/>
              <p14:nvPr/>
            </p14:nvContentPartPr>
            <p14:xfrm>
              <a:off x="6901920" y="86580"/>
              <a:ext cx="2991240" cy="6552720"/>
            </p14:xfrm>
          </p:contentPart>
        </mc:Choice>
        <mc:Fallback>
          <p:pic>
            <p:nvPicPr>
              <p:cNvPr id="11" name="Ink 10">
                <a:extLst>
                  <a:ext uri="{FF2B5EF4-FFF2-40B4-BE49-F238E27FC236}">
                    <a16:creationId xmlns:a16="http://schemas.microsoft.com/office/drawing/2014/main" id="{44939704-E11F-7213-9817-2B0464D03897}"/>
                  </a:ext>
                </a:extLst>
              </p:cNvPr>
              <p:cNvPicPr/>
              <p:nvPr/>
            </p:nvPicPr>
            <p:blipFill>
              <a:blip r:embed="rId4"/>
              <a:stretch>
                <a:fillRect/>
              </a:stretch>
            </p:blipFill>
            <p:spPr>
              <a:xfrm>
                <a:off x="6895800" y="80460"/>
                <a:ext cx="3003480" cy="6564960"/>
              </a:xfrm>
              <a:prstGeom prst="rect">
                <a:avLst/>
              </a:prstGeom>
            </p:spPr>
          </p:pic>
        </mc:Fallback>
      </mc:AlternateContent>
    </p:spTree>
    <p:extLst>
      <p:ext uri="{BB962C8B-B14F-4D97-AF65-F5344CB8AC3E}">
        <p14:creationId xmlns:p14="http://schemas.microsoft.com/office/powerpoint/2010/main" val="25119078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E0DC86-EC37-12D0-BB0C-36EBDE9D6201}"/>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D01F0B5D-6B3D-AFB2-8134-CBECF09F183D}"/>
              </a:ext>
            </a:extLst>
          </p:cNvPr>
          <p:cNvSpPr txBox="1"/>
          <p:nvPr/>
        </p:nvSpPr>
        <p:spPr>
          <a:xfrm>
            <a:off x="751840" y="680720"/>
            <a:ext cx="6502400" cy="369332"/>
          </a:xfrm>
          <a:prstGeom prst="rect">
            <a:avLst/>
          </a:prstGeom>
          <a:noFill/>
        </p:spPr>
        <p:txBody>
          <a:bodyPr wrap="square" rtlCol="0">
            <a:spAutoFit/>
          </a:bodyPr>
          <a:lstStyle/>
          <a:p>
            <a:r>
              <a:rPr lang="en-US" b="1" dirty="0"/>
              <a:t>Phase 2 : Expansion </a:t>
            </a:r>
            <a:endParaRPr lang="en-IN" dirty="0"/>
          </a:p>
        </p:txBody>
      </p:sp>
      <p:sp>
        <p:nvSpPr>
          <p:cNvPr id="2" name="TextBox 1">
            <a:extLst>
              <a:ext uri="{FF2B5EF4-FFF2-40B4-BE49-F238E27FC236}">
                <a16:creationId xmlns:a16="http://schemas.microsoft.com/office/drawing/2014/main" id="{823FBC0C-4635-1406-16F4-9DC9AB4500FC}"/>
              </a:ext>
            </a:extLst>
          </p:cNvPr>
          <p:cNvSpPr txBox="1"/>
          <p:nvPr/>
        </p:nvSpPr>
        <p:spPr>
          <a:xfrm>
            <a:off x="689096" y="1603953"/>
            <a:ext cx="2984891" cy="4154984"/>
          </a:xfrm>
          <a:prstGeom prst="rect">
            <a:avLst/>
          </a:prstGeom>
          <a:noFill/>
        </p:spPr>
        <p:txBody>
          <a:bodyPr wrap="square" rtlCol="0">
            <a:spAutoFit/>
          </a:bodyPr>
          <a:lstStyle/>
          <a:p>
            <a:r>
              <a:rPr lang="en-IN" sz="1600" b="1" dirty="0"/>
              <a:t>Authentication Module</a:t>
            </a:r>
          </a:p>
          <a:p>
            <a:pPr marL="285750" indent="-285750">
              <a:buFont typeface="Arial" panose="020B0604020202020204" pitchFamily="34" charset="0"/>
              <a:buChar char="•"/>
            </a:pPr>
            <a:r>
              <a:rPr lang="en-IN" sz="1600" dirty="0"/>
              <a:t>Email/Password </a:t>
            </a:r>
          </a:p>
          <a:p>
            <a:pPr marL="285750" indent="-285750">
              <a:buFont typeface="Arial" panose="020B0604020202020204" pitchFamily="34" charset="0"/>
              <a:buChar char="•"/>
            </a:pPr>
            <a:r>
              <a:rPr lang="en-IN" sz="1600" dirty="0"/>
              <a:t>Google Login </a:t>
            </a:r>
          </a:p>
          <a:p>
            <a:pPr marL="285750" indent="-285750">
              <a:buFont typeface="Arial" panose="020B0604020202020204" pitchFamily="34" charset="0"/>
              <a:buChar char="•"/>
            </a:pPr>
            <a:r>
              <a:rPr lang="en-IN" sz="1600" dirty="0"/>
              <a:t>JWT/</a:t>
            </a:r>
            <a:r>
              <a:rPr lang="en-IN" sz="1600" dirty="0" err="1"/>
              <a:t>Supabase</a:t>
            </a:r>
            <a:r>
              <a:rPr lang="en-IN" sz="1600" dirty="0"/>
              <a:t> Auth </a:t>
            </a:r>
          </a:p>
          <a:p>
            <a:r>
              <a:rPr lang="en-IN" sz="1600" b="1" dirty="0"/>
              <a:t>User Profile</a:t>
            </a:r>
          </a:p>
          <a:p>
            <a:pPr marL="285750" indent="-285750">
              <a:buFont typeface="Arial" panose="020B0604020202020204" pitchFamily="34" charset="0"/>
              <a:buChar char="•"/>
            </a:pPr>
            <a:r>
              <a:rPr lang="en-IN" sz="1600" dirty="0"/>
              <a:t>Avatar </a:t>
            </a:r>
          </a:p>
          <a:p>
            <a:pPr marL="285750" indent="-285750">
              <a:buFont typeface="Arial" panose="020B0604020202020204" pitchFamily="34" charset="0"/>
              <a:buChar char="•"/>
            </a:pPr>
            <a:r>
              <a:rPr lang="en-IN" sz="1600" dirty="0"/>
              <a:t>Bio </a:t>
            </a:r>
          </a:p>
          <a:p>
            <a:pPr marL="285750" indent="-285750">
              <a:buFont typeface="Arial" panose="020B0604020202020204" pitchFamily="34" charset="0"/>
              <a:buChar char="•"/>
            </a:pPr>
            <a:r>
              <a:rPr lang="en-IN" sz="1600" dirty="0"/>
              <a:t>Last Seen </a:t>
            </a:r>
          </a:p>
          <a:p>
            <a:pPr marL="285750" indent="-285750">
              <a:buFont typeface="Arial" panose="020B0604020202020204" pitchFamily="34" charset="0"/>
              <a:buChar char="•"/>
            </a:pPr>
            <a:r>
              <a:rPr lang="en-IN" sz="1600" dirty="0"/>
              <a:t>Status </a:t>
            </a:r>
          </a:p>
          <a:p>
            <a:r>
              <a:rPr lang="en-IN" sz="1600" b="1" dirty="0"/>
              <a:t>Chat Rooms</a:t>
            </a:r>
          </a:p>
          <a:p>
            <a:pPr marL="285750" indent="-285750">
              <a:buFont typeface="Arial" panose="020B0604020202020204" pitchFamily="34" charset="0"/>
              <a:buChar char="•"/>
            </a:pPr>
            <a:r>
              <a:rPr lang="en-IN" sz="1600" dirty="0"/>
              <a:t>Gaming</a:t>
            </a:r>
          </a:p>
          <a:p>
            <a:pPr marL="285750" indent="-285750">
              <a:buFont typeface="Arial" panose="020B0604020202020204" pitchFamily="34" charset="0"/>
              <a:buChar char="•"/>
            </a:pPr>
            <a:r>
              <a:rPr lang="en-IN" sz="1600" dirty="0"/>
              <a:t>AI</a:t>
            </a:r>
          </a:p>
          <a:p>
            <a:pPr marL="285750" indent="-285750">
              <a:buFont typeface="Arial" panose="020B0604020202020204" pitchFamily="34" charset="0"/>
              <a:buChar char="•"/>
            </a:pPr>
            <a:r>
              <a:rPr lang="en-IN" sz="1600" dirty="0"/>
              <a:t>Movies</a:t>
            </a:r>
          </a:p>
          <a:p>
            <a:pPr marL="285750" indent="-285750">
              <a:buFont typeface="Arial" panose="020B0604020202020204" pitchFamily="34" charset="0"/>
              <a:buChar char="•"/>
            </a:pPr>
            <a:r>
              <a:rPr lang="en-IN" sz="1600" dirty="0"/>
              <a:t>Programming</a:t>
            </a:r>
          </a:p>
          <a:p>
            <a:pPr marL="285750" indent="-285750">
              <a:buFont typeface="Arial" panose="020B0604020202020204" pitchFamily="34" charset="0"/>
              <a:buChar char="•"/>
            </a:pPr>
            <a:r>
              <a:rPr lang="en-IN" sz="1600" dirty="0"/>
              <a:t>General</a:t>
            </a:r>
          </a:p>
          <a:p>
            <a:endParaRPr lang="en-IN" sz="1600" dirty="0"/>
          </a:p>
        </p:txBody>
      </p:sp>
      <p:sp>
        <p:nvSpPr>
          <p:cNvPr id="4" name="TextBox 3">
            <a:extLst>
              <a:ext uri="{FF2B5EF4-FFF2-40B4-BE49-F238E27FC236}">
                <a16:creationId xmlns:a16="http://schemas.microsoft.com/office/drawing/2014/main" id="{01D6D8BF-2B09-68B1-3C2D-95592177443D}"/>
              </a:ext>
            </a:extLst>
          </p:cNvPr>
          <p:cNvSpPr txBox="1"/>
          <p:nvPr/>
        </p:nvSpPr>
        <p:spPr>
          <a:xfrm>
            <a:off x="3258252" y="1603959"/>
            <a:ext cx="2602637" cy="3877985"/>
          </a:xfrm>
          <a:prstGeom prst="rect">
            <a:avLst/>
          </a:prstGeom>
          <a:noFill/>
        </p:spPr>
        <p:txBody>
          <a:bodyPr wrap="square">
            <a:spAutoFit/>
          </a:bodyPr>
          <a:lstStyle/>
          <a:p>
            <a:pPr>
              <a:buNone/>
            </a:pPr>
            <a:r>
              <a:rPr lang="en-IN" sz="1600" b="1" dirty="0"/>
              <a:t>Private Messaging</a:t>
            </a:r>
          </a:p>
          <a:p>
            <a:pPr marL="285750" indent="-285750">
              <a:buFont typeface="Arial" panose="020B0604020202020204" pitchFamily="34" charset="0"/>
              <a:buChar char="•"/>
            </a:pPr>
            <a:r>
              <a:rPr lang="en-IN" sz="1600" dirty="0"/>
              <a:t>User A ↔ User B</a:t>
            </a:r>
          </a:p>
          <a:p>
            <a:pPr>
              <a:buNone/>
            </a:pPr>
            <a:r>
              <a:rPr lang="en-IN" sz="1600" b="1" dirty="0"/>
              <a:t>Media Sharing</a:t>
            </a:r>
          </a:p>
          <a:p>
            <a:pPr marL="285750" indent="-285750">
              <a:buFont typeface="Arial" panose="020B0604020202020204" pitchFamily="34" charset="0"/>
              <a:buChar char="•"/>
            </a:pPr>
            <a:r>
              <a:rPr lang="en-IN" sz="1600" dirty="0"/>
              <a:t>Images</a:t>
            </a:r>
          </a:p>
          <a:p>
            <a:pPr marL="285750" indent="-285750">
              <a:buFont typeface="Arial" panose="020B0604020202020204" pitchFamily="34" charset="0"/>
              <a:buChar char="•"/>
            </a:pPr>
            <a:r>
              <a:rPr lang="en-IN" sz="1600" dirty="0"/>
              <a:t>Videos</a:t>
            </a:r>
          </a:p>
          <a:p>
            <a:pPr marL="285750" indent="-285750">
              <a:buFont typeface="Arial" panose="020B0604020202020204" pitchFamily="34" charset="0"/>
              <a:buChar char="•"/>
            </a:pPr>
            <a:r>
              <a:rPr lang="en-IN" sz="1600" dirty="0"/>
              <a:t>Files</a:t>
            </a:r>
          </a:p>
          <a:p>
            <a:pPr>
              <a:buNone/>
            </a:pPr>
            <a:r>
              <a:rPr lang="en-IN" sz="1600" b="1" dirty="0"/>
              <a:t>Typing Indicator</a:t>
            </a:r>
          </a:p>
          <a:p>
            <a:pPr marL="285750" indent="-285750">
              <a:buFont typeface="Arial" panose="020B0604020202020204" pitchFamily="34" charset="0"/>
              <a:buChar char="•"/>
            </a:pPr>
            <a:r>
              <a:rPr lang="en-IN" sz="1600" dirty="0"/>
              <a:t>"Rajeev is typing..."</a:t>
            </a:r>
          </a:p>
          <a:p>
            <a:pPr>
              <a:buNone/>
            </a:pPr>
            <a:r>
              <a:rPr lang="en-IN" sz="1600" b="1" dirty="0"/>
              <a:t>Read Receipts</a:t>
            </a:r>
          </a:p>
          <a:p>
            <a:pPr>
              <a:buNone/>
            </a:pPr>
            <a:r>
              <a:rPr lang="en-IN" sz="1600" dirty="0"/>
              <a:t>✓</a:t>
            </a:r>
          </a:p>
          <a:p>
            <a:pPr>
              <a:buNone/>
            </a:pPr>
            <a:r>
              <a:rPr lang="en-IN" sz="1600" dirty="0"/>
              <a:t>✓✓</a:t>
            </a:r>
          </a:p>
          <a:p>
            <a:pPr>
              <a:buNone/>
            </a:pPr>
            <a:r>
              <a:rPr lang="en-IN" sz="1600" dirty="0"/>
              <a:t>Seen</a:t>
            </a:r>
          </a:p>
          <a:p>
            <a:pPr>
              <a:buNone/>
            </a:pPr>
            <a:r>
              <a:rPr lang="en-IN" sz="1600" b="1" dirty="0"/>
              <a:t>Notifications</a:t>
            </a:r>
          </a:p>
          <a:p>
            <a:pPr marL="285750" indent="-285750">
              <a:buFont typeface="Arial" panose="020B0604020202020204" pitchFamily="34" charset="0"/>
              <a:buChar char="•"/>
            </a:pPr>
            <a:r>
              <a:rPr lang="en-IN" sz="1600" dirty="0"/>
              <a:t>Push notifications</a:t>
            </a:r>
          </a:p>
          <a:p>
            <a:pPr marL="285750" indent="-285750">
              <a:buFont typeface="Arial" panose="020B0604020202020204" pitchFamily="34" charset="0"/>
              <a:buChar char="•"/>
            </a:pPr>
            <a:r>
              <a:rPr lang="en-IN" sz="1600" dirty="0"/>
              <a:t>Email notifications</a:t>
            </a:r>
          </a:p>
        </p:txBody>
      </p:sp>
      <p:cxnSp>
        <p:nvCxnSpPr>
          <p:cNvPr id="6" name="Straight Connector 5">
            <a:extLst>
              <a:ext uri="{FF2B5EF4-FFF2-40B4-BE49-F238E27FC236}">
                <a16:creationId xmlns:a16="http://schemas.microsoft.com/office/drawing/2014/main" id="{35EC09AB-C018-C1E1-50E4-B9CD0F0EFA35}"/>
              </a:ext>
            </a:extLst>
          </p:cNvPr>
          <p:cNvCxnSpPr/>
          <p:nvPr/>
        </p:nvCxnSpPr>
        <p:spPr>
          <a:xfrm>
            <a:off x="3029332" y="1701364"/>
            <a:ext cx="0" cy="3587261"/>
          </a:xfrm>
          <a:prstGeom prst="line">
            <a:avLst/>
          </a:prstGeom>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BF338090-C827-1D3A-D080-E85CAD9DD40D}"/>
              </a:ext>
            </a:extLst>
          </p:cNvPr>
          <p:cNvSpPr txBox="1"/>
          <p:nvPr/>
        </p:nvSpPr>
        <p:spPr>
          <a:xfrm>
            <a:off x="6230600" y="1299253"/>
            <a:ext cx="2602637" cy="1569660"/>
          </a:xfrm>
          <a:prstGeom prst="rect">
            <a:avLst/>
          </a:prstGeom>
          <a:solidFill>
            <a:schemeClr val="accent2">
              <a:lumMod val="20000"/>
              <a:lumOff val="80000"/>
            </a:schemeClr>
          </a:solidFill>
        </p:spPr>
        <p:txBody>
          <a:bodyPr wrap="square" rtlCol="0">
            <a:spAutoFit/>
          </a:bodyPr>
          <a:lstStyle/>
          <a:p>
            <a:r>
              <a:rPr lang="en-IN" sz="1200" dirty="0">
                <a:latin typeface="Cascadia Code" panose="020B0609020000020004" pitchFamily="49" charset="0"/>
                <a:ea typeface="Cascadia Code" panose="020B0609020000020004" pitchFamily="49" charset="0"/>
                <a:cs typeface="Cascadia Code" panose="020B0609020000020004" pitchFamily="49" charset="0"/>
              </a:rPr>
              <a:t>users</a:t>
            </a:r>
          </a:p>
          <a:p>
            <a:r>
              <a:rPr lang="en-IN" sz="1200" dirty="0">
                <a:latin typeface="Cascadia Code" panose="020B0609020000020004" pitchFamily="49" charset="0"/>
                <a:ea typeface="Cascadia Code" panose="020B0609020000020004" pitchFamily="49" charset="0"/>
                <a:cs typeface="Cascadia Code" panose="020B0609020000020004" pitchFamily="49" charset="0"/>
              </a:rPr>
              <a:t>profiles</a:t>
            </a:r>
          </a:p>
          <a:p>
            <a:r>
              <a:rPr lang="en-IN" sz="1200" dirty="0">
                <a:latin typeface="Cascadia Code" panose="020B0609020000020004" pitchFamily="49" charset="0"/>
                <a:ea typeface="Cascadia Code" panose="020B0609020000020004" pitchFamily="49" charset="0"/>
                <a:cs typeface="Cascadia Code" panose="020B0609020000020004" pitchFamily="49" charset="0"/>
              </a:rPr>
              <a:t>servers</a:t>
            </a:r>
          </a:p>
          <a:p>
            <a:r>
              <a:rPr lang="en-IN" sz="1200" dirty="0" err="1">
                <a:latin typeface="Cascadia Code" panose="020B0609020000020004" pitchFamily="49" charset="0"/>
                <a:ea typeface="Cascadia Code" panose="020B0609020000020004" pitchFamily="49" charset="0"/>
                <a:cs typeface="Cascadia Code" panose="020B0609020000020004" pitchFamily="49" charset="0"/>
              </a:rPr>
              <a:t>server_members</a:t>
            </a:r>
            <a:endParaRPr lang="en-IN" sz="1200" dirty="0">
              <a:latin typeface="Cascadia Code" panose="020B0609020000020004" pitchFamily="49" charset="0"/>
              <a:ea typeface="Cascadia Code" panose="020B0609020000020004" pitchFamily="49" charset="0"/>
              <a:cs typeface="Cascadia Code" panose="020B0609020000020004" pitchFamily="49" charset="0"/>
            </a:endParaRPr>
          </a:p>
          <a:p>
            <a:r>
              <a:rPr lang="en-IN" sz="1200" dirty="0">
                <a:latin typeface="Cascadia Code" panose="020B0609020000020004" pitchFamily="49" charset="0"/>
                <a:ea typeface="Cascadia Code" panose="020B0609020000020004" pitchFamily="49" charset="0"/>
                <a:cs typeface="Cascadia Code" panose="020B0609020000020004" pitchFamily="49" charset="0"/>
              </a:rPr>
              <a:t>channels</a:t>
            </a:r>
          </a:p>
          <a:p>
            <a:r>
              <a:rPr lang="en-IN" sz="1200" dirty="0">
                <a:latin typeface="Cascadia Code" panose="020B0609020000020004" pitchFamily="49" charset="0"/>
                <a:ea typeface="Cascadia Code" panose="020B0609020000020004" pitchFamily="49" charset="0"/>
                <a:cs typeface="Cascadia Code" panose="020B0609020000020004" pitchFamily="49" charset="0"/>
              </a:rPr>
              <a:t>messages</a:t>
            </a:r>
          </a:p>
          <a:p>
            <a:r>
              <a:rPr lang="en-IN" sz="1200" dirty="0">
                <a:latin typeface="Cascadia Code" panose="020B0609020000020004" pitchFamily="49" charset="0"/>
                <a:ea typeface="Cascadia Code" panose="020B0609020000020004" pitchFamily="49" charset="0"/>
                <a:cs typeface="Cascadia Code" panose="020B0609020000020004" pitchFamily="49" charset="0"/>
              </a:rPr>
              <a:t>attachments</a:t>
            </a:r>
          </a:p>
          <a:p>
            <a:r>
              <a:rPr lang="en-IN" sz="1200" dirty="0">
                <a:latin typeface="Cascadia Code" panose="020B0609020000020004" pitchFamily="49" charset="0"/>
                <a:ea typeface="Cascadia Code" panose="020B0609020000020004" pitchFamily="49" charset="0"/>
                <a:cs typeface="Cascadia Code" panose="020B0609020000020004" pitchFamily="49" charset="0"/>
              </a:rPr>
              <a:t>notifications</a:t>
            </a:r>
          </a:p>
        </p:txBody>
      </p:sp>
      <p:sp>
        <p:nvSpPr>
          <p:cNvPr id="12" name="Rectangle: Top Corners Rounded 11">
            <a:extLst>
              <a:ext uri="{FF2B5EF4-FFF2-40B4-BE49-F238E27FC236}">
                <a16:creationId xmlns:a16="http://schemas.microsoft.com/office/drawing/2014/main" id="{F6515161-1C6F-B805-00A4-620C67C82A79}"/>
              </a:ext>
            </a:extLst>
          </p:cNvPr>
          <p:cNvSpPr/>
          <p:nvPr/>
        </p:nvSpPr>
        <p:spPr>
          <a:xfrm>
            <a:off x="6282253" y="932530"/>
            <a:ext cx="2499329" cy="369332"/>
          </a:xfrm>
          <a:prstGeom prst="round2Same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latin typeface="Abadi" panose="020B0604020104020204" pitchFamily="34" charset="0"/>
              </a:rPr>
              <a:t>Expanded Database</a:t>
            </a:r>
            <a:endParaRPr lang="en-IN" dirty="0">
              <a:ln w="0"/>
              <a:solidFill>
                <a:schemeClr val="tx1"/>
              </a:solidFill>
              <a:effectLst>
                <a:outerShdw blurRad="38100" dist="19050" dir="2700000" algn="tl" rotWithShape="0">
                  <a:schemeClr val="dk1">
                    <a:alpha val="40000"/>
                  </a:schemeClr>
                </a:outerShdw>
              </a:effectLst>
              <a:latin typeface="Abadi" panose="020B0604020104020204" pitchFamily="34" charset="0"/>
            </a:endParaRPr>
          </a:p>
        </p:txBody>
      </p:sp>
      <p:sp>
        <p:nvSpPr>
          <p:cNvPr id="15" name="Rectangle: Rounded Corners 14">
            <a:extLst>
              <a:ext uri="{FF2B5EF4-FFF2-40B4-BE49-F238E27FC236}">
                <a16:creationId xmlns:a16="http://schemas.microsoft.com/office/drawing/2014/main" id="{FB71774A-6B9B-3F9A-3FD2-243A0402C27D}"/>
              </a:ext>
            </a:extLst>
          </p:cNvPr>
          <p:cNvSpPr/>
          <p:nvPr/>
        </p:nvSpPr>
        <p:spPr>
          <a:xfrm>
            <a:off x="5676798" y="3052014"/>
            <a:ext cx="6312878" cy="2247646"/>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61E4A0AC-9F71-51C2-DC74-D9162DD255A4}"/>
              </a:ext>
            </a:extLst>
          </p:cNvPr>
          <p:cNvSpPr txBox="1"/>
          <p:nvPr/>
        </p:nvSpPr>
        <p:spPr>
          <a:xfrm>
            <a:off x="5812909" y="3111453"/>
            <a:ext cx="6097464" cy="2123658"/>
          </a:xfrm>
          <a:prstGeom prst="rect">
            <a:avLst/>
          </a:prstGeom>
          <a:noFill/>
        </p:spPr>
        <p:txBody>
          <a:bodyPr wrap="square">
            <a:spAutoFit/>
          </a:bodyPr>
          <a:lstStyle/>
          <a:p>
            <a:pPr>
              <a:buNone/>
            </a:pPr>
            <a:r>
              <a:rPr lang="en-IN" sz="2000" b="1" dirty="0"/>
              <a:t>Why this architecture?</a:t>
            </a:r>
          </a:p>
          <a:p>
            <a:pPr>
              <a:buNone/>
            </a:pPr>
            <a:r>
              <a:rPr lang="en-IN" sz="1600" dirty="0">
                <a:latin typeface="Archivo Light" pitchFamily="2" charset="0"/>
                <a:cs typeface="Archivo Light" pitchFamily="2" charset="0"/>
              </a:rPr>
              <a:t>It balances simplicity with extensibility. For Phase 1, you only need a few modules and a straightforward database. As you add authentication, chat rooms, profiles, and privacy in Phase 2, you won't need to rewrite the application—you'll just add new modules and tables. This is exactly why a </a:t>
            </a:r>
            <a:r>
              <a:rPr lang="en-IN" sz="1600" b="1" dirty="0">
                <a:latin typeface="Archivo Light" pitchFamily="2" charset="0"/>
                <a:cs typeface="Archivo Light" pitchFamily="2" charset="0"/>
              </a:rPr>
              <a:t>modular monolith</a:t>
            </a:r>
            <a:r>
              <a:rPr lang="en-IN" sz="1600" dirty="0">
                <a:latin typeface="Archivo Light" pitchFamily="2" charset="0"/>
                <a:cs typeface="Archivo Light" pitchFamily="2" charset="0"/>
              </a:rPr>
              <a:t> is a great fit. It's easy to understand, easy to build, and scales well as features are introduced.</a:t>
            </a:r>
          </a:p>
        </p:txBody>
      </p:sp>
    </p:spTree>
    <p:extLst>
      <p:ext uri="{BB962C8B-B14F-4D97-AF65-F5344CB8AC3E}">
        <p14:creationId xmlns:p14="http://schemas.microsoft.com/office/powerpoint/2010/main" val="24836918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133</TotalTime>
  <Words>555</Words>
  <Application>Microsoft Office PowerPoint</Application>
  <PresentationFormat>Widescreen</PresentationFormat>
  <Paragraphs>134</Paragraphs>
  <Slides>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Abadi</vt:lpstr>
      <vt:lpstr>Aptos</vt:lpstr>
      <vt:lpstr>Aptos Display</vt:lpstr>
      <vt:lpstr>Archivo Light</vt:lpstr>
      <vt:lpstr>Arial</vt:lpstr>
      <vt:lpstr>Cascadia Code</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Baibhabi Mishra</dc:creator>
  <cp:lastModifiedBy>Baibhabi Mishra</cp:lastModifiedBy>
  <cp:revision>3</cp:revision>
  <dcterms:created xsi:type="dcterms:W3CDTF">2026-07-11T07:32:06Z</dcterms:created>
  <dcterms:modified xsi:type="dcterms:W3CDTF">2026-07-11T09:45:58Z</dcterms:modified>
</cp:coreProperties>
</file>